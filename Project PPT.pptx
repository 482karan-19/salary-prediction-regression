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anva Sans Bold" charset="1" panose="020B0803030501040103"/>
      <p:regular r:id="rId18"/>
    </p:embeddedFont>
    <p:embeddedFont>
      <p:font typeface="Poppins Bold" charset="1" panose="00000800000000000000"/>
      <p:regular r:id="rId19"/>
    </p:embeddedFont>
    <p:embeddedFont>
      <p:font typeface="Canva Sans" charset="1" panose="020B0503030501040103"/>
      <p:regular r:id="rId20"/>
    </p:embeddedFont>
    <p:embeddedFont>
      <p:font typeface="Poppins"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0.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1.png" Type="http://schemas.openxmlformats.org/officeDocument/2006/relationships/image"/><Relationship Id="rId8" Target="../media/image12.jpeg" Type="http://schemas.openxmlformats.org/officeDocument/2006/relationships/image"/><Relationship Id="rId9"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2.jpe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2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44978" cy="812800"/>
          </a:xfrm>
        </p:grpSpPr>
        <p:sp>
          <p:nvSpPr>
            <p:cNvPr name="Freeform 3" id="3"/>
            <p:cNvSpPr/>
            <p:nvPr/>
          </p:nvSpPr>
          <p:spPr>
            <a:xfrm flipH="false" flipV="false" rot="0">
              <a:off x="0" y="0"/>
              <a:ext cx="1444978" cy="812800"/>
            </a:xfrm>
            <a:custGeom>
              <a:avLst/>
              <a:gdLst/>
              <a:ahLst/>
              <a:cxnLst/>
              <a:rect r="r" b="b" t="t" l="l"/>
              <a:pathLst>
                <a:path h="812800" w="1444978">
                  <a:moveTo>
                    <a:pt x="0" y="0"/>
                  </a:moveTo>
                  <a:lnTo>
                    <a:pt x="1444978" y="0"/>
                  </a:lnTo>
                  <a:lnTo>
                    <a:pt x="1444978" y="812800"/>
                  </a:lnTo>
                  <a:lnTo>
                    <a:pt x="0" y="812800"/>
                  </a:lnTo>
                  <a:close/>
                </a:path>
              </a:pathLst>
            </a:custGeom>
            <a:blipFill>
              <a:blip r:embed="rId2"/>
              <a:stretch>
                <a:fillRect l="-3317" t="0" r="-3317" b="0"/>
              </a:stretch>
            </a:blipFill>
          </p:spPr>
        </p:sp>
      </p:grpSp>
      <p:grpSp>
        <p:nvGrpSpPr>
          <p:cNvPr name="Group 4" id="4"/>
          <p:cNvGrpSpPr/>
          <p:nvPr/>
        </p:nvGrpSpPr>
        <p:grpSpPr>
          <a:xfrm rot="0">
            <a:off x="0" y="0"/>
            <a:ext cx="18288000" cy="10287000"/>
            <a:chOff x="0" y="0"/>
            <a:chExt cx="4816593" cy="2709333"/>
          </a:xfrm>
        </p:grpSpPr>
        <p:sp>
          <p:nvSpPr>
            <p:cNvPr name="Freeform 5" id="5"/>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11076D">
                    <a:alpha val="64000"/>
                  </a:srgbClr>
                </a:gs>
                <a:gs pos="100000">
                  <a:srgbClr val="144357">
                    <a:alpha val="64000"/>
                  </a:srgbClr>
                </a:gs>
              </a:gsLst>
              <a:path path="circle">
                <a:fillToRect l="0" r="100000" t="0" b="100000"/>
              </a:path>
              <a:tileRect r="0" l="-100000" b="0" t="-100000"/>
            </a:gradFill>
          </p:spPr>
        </p:sp>
        <p:sp>
          <p:nvSpPr>
            <p:cNvPr name="TextBox 6" id="6"/>
            <p:cNvSpPr txBox="true"/>
            <p:nvPr/>
          </p:nvSpPr>
          <p:spPr>
            <a:xfrm>
              <a:off x="0" y="-57150"/>
              <a:ext cx="4816593" cy="276648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4510351" y="9362827"/>
            <a:ext cx="563577" cy="563577"/>
          </a:xfrm>
          <a:custGeom>
            <a:avLst/>
            <a:gdLst/>
            <a:ahLst/>
            <a:cxnLst/>
            <a:rect r="r" b="b" t="t" l="l"/>
            <a:pathLst>
              <a:path h="563577" w="563577">
                <a:moveTo>
                  <a:pt x="0" y="0"/>
                </a:moveTo>
                <a:lnTo>
                  <a:pt x="563578" y="0"/>
                </a:lnTo>
                <a:lnTo>
                  <a:pt x="563578" y="563577"/>
                </a:lnTo>
                <a:lnTo>
                  <a:pt x="0" y="5635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598616" y="8078757"/>
            <a:ext cx="5244214" cy="1378534"/>
          </a:xfrm>
          <a:custGeom>
            <a:avLst/>
            <a:gdLst/>
            <a:ahLst/>
            <a:cxnLst/>
            <a:rect r="r" b="b" t="t" l="l"/>
            <a:pathLst>
              <a:path h="1378534" w="5244214">
                <a:moveTo>
                  <a:pt x="0" y="0"/>
                </a:moveTo>
                <a:lnTo>
                  <a:pt x="5244213" y="0"/>
                </a:lnTo>
                <a:lnTo>
                  <a:pt x="5244213" y="1378534"/>
                </a:lnTo>
                <a:lnTo>
                  <a:pt x="0" y="13785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true" flipV="false" rot="0">
            <a:off x="14637193" y="2624764"/>
            <a:ext cx="5244214" cy="1378534"/>
          </a:xfrm>
          <a:custGeom>
            <a:avLst/>
            <a:gdLst/>
            <a:ahLst/>
            <a:cxnLst/>
            <a:rect r="r" b="b" t="t" l="l"/>
            <a:pathLst>
              <a:path h="1378534" w="5244214">
                <a:moveTo>
                  <a:pt x="5244214" y="0"/>
                </a:moveTo>
                <a:lnTo>
                  <a:pt x="0" y="0"/>
                </a:lnTo>
                <a:lnTo>
                  <a:pt x="0" y="1378534"/>
                </a:lnTo>
                <a:lnTo>
                  <a:pt x="5244214" y="1378534"/>
                </a:lnTo>
                <a:lnTo>
                  <a:pt x="524421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028700" y="1541372"/>
            <a:ext cx="1658436" cy="1603308"/>
          </a:xfrm>
          <a:custGeom>
            <a:avLst/>
            <a:gdLst/>
            <a:ahLst/>
            <a:cxnLst/>
            <a:rect r="r" b="b" t="t" l="l"/>
            <a:pathLst>
              <a:path h="1603308" w="1658436">
                <a:moveTo>
                  <a:pt x="0" y="0"/>
                </a:moveTo>
                <a:lnTo>
                  <a:pt x="1658436" y="0"/>
                </a:lnTo>
                <a:lnTo>
                  <a:pt x="1658436" y="1603308"/>
                </a:lnTo>
                <a:lnTo>
                  <a:pt x="0" y="1603308"/>
                </a:lnTo>
                <a:lnTo>
                  <a:pt x="0" y="0"/>
                </a:lnTo>
                <a:close/>
              </a:path>
            </a:pathLst>
          </a:custGeom>
          <a:blipFill>
            <a:blip r:embed="rId7">
              <a:alphaModFix amt="54000"/>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1143085" y="3691136"/>
            <a:ext cx="14077850" cy="1094742"/>
          </a:xfrm>
          <a:prstGeom prst="rect">
            <a:avLst/>
          </a:prstGeom>
        </p:spPr>
        <p:txBody>
          <a:bodyPr anchor="t" rtlCol="false" tIns="0" lIns="0" bIns="0" rIns="0">
            <a:spAutoFit/>
          </a:bodyPr>
          <a:lstStyle/>
          <a:p>
            <a:pPr algn="ctr">
              <a:lnSpc>
                <a:spcPts val="8959"/>
              </a:lnSpc>
            </a:pPr>
            <a:r>
              <a:rPr lang="en-US" sz="6399" b="true">
                <a:solidFill>
                  <a:srgbClr val="00FFD1"/>
                </a:solidFill>
                <a:latin typeface="Canva Sans Bold"/>
                <a:ea typeface="Canva Sans Bold"/>
                <a:cs typeface="Canva Sans Bold"/>
                <a:sym typeface="Canva Sans Bold"/>
              </a:rPr>
              <a:t>Salary Prediction Using Regression</a:t>
            </a:r>
          </a:p>
        </p:txBody>
      </p:sp>
      <p:sp>
        <p:nvSpPr>
          <p:cNvPr name="TextBox 12" id="12"/>
          <p:cNvSpPr txBox="true"/>
          <p:nvPr/>
        </p:nvSpPr>
        <p:spPr>
          <a:xfrm rot="0">
            <a:off x="15073929" y="9381091"/>
            <a:ext cx="4141972" cy="450849"/>
          </a:xfrm>
          <a:prstGeom prst="rect">
            <a:avLst/>
          </a:prstGeom>
        </p:spPr>
        <p:txBody>
          <a:bodyPr anchor="t" rtlCol="false" tIns="0" lIns="0" bIns="0" rIns="0">
            <a:spAutoFit/>
          </a:bodyPr>
          <a:lstStyle/>
          <a:p>
            <a:pPr algn="l">
              <a:lnSpc>
                <a:spcPts val="3500"/>
              </a:lnSpc>
            </a:pPr>
            <a:r>
              <a:rPr lang="en-US" sz="2500" b="true">
                <a:solidFill>
                  <a:srgbClr val="FFFFFF"/>
                </a:solidFill>
                <a:latin typeface="Poppins Bold"/>
                <a:ea typeface="Poppins Bold"/>
                <a:cs typeface="Poppins Bold"/>
                <a:sym typeface="Poppins Bold"/>
              </a:rPr>
              <a:t>KARAN SINGH</a:t>
            </a:r>
          </a:p>
        </p:txBody>
      </p:sp>
      <p:sp>
        <p:nvSpPr>
          <p:cNvPr name="TextBox 13" id="13"/>
          <p:cNvSpPr txBox="true"/>
          <p:nvPr/>
        </p:nvSpPr>
        <p:spPr>
          <a:xfrm rot="0">
            <a:off x="1237314" y="4871404"/>
            <a:ext cx="14547745" cy="588855"/>
          </a:xfrm>
          <a:prstGeom prst="rect">
            <a:avLst/>
          </a:prstGeom>
        </p:spPr>
        <p:txBody>
          <a:bodyPr anchor="t" rtlCol="false" tIns="0" lIns="0" bIns="0" rIns="0">
            <a:spAutoFit/>
          </a:bodyPr>
          <a:lstStyle/>
          <a:p>
            <a:pPr algn="l">
              <a:lnSpc>
                <a:spcPts val="4818"/>
              </a:lnSpc>
            </a:pPr>
            <a:r>
              <a:rPr lang="en-US" sz="3441" b="true">
                <a:solidFill>
                  <a:srgbClr val="FFFFFF"/>
                </a:solidFill>
                <a:latin typeface="Canva Sans Bold"/>
                <a:ea typeface="Canva Sans Bold"/>
                <a:cs typeface="Canva Sans Bold"/>
                <a:sym typeface="Canva Sans Bold"/>
              </a:rPr>
              <a:t>Artificial Intelligence Based Machine Learning Project </a:t>
            </a:r>
          </a:p>
        </p:txBody>
      </p:sp>
      <p:sp>
        <p:nvSpPr>
          <p:cNvPr name="Freeform 14" id="14"/>
          <p:cNvSpPr/>
          <p:nvPr/>
        </p:nvSpPr>
        <p:spPr>
          <a:xfrm flipH="false" flipV="false" rot="0">
            <a:off x="15419047" y="7357765"/>
            <a:ext cx="1725868" cy="1668498"/>
          </a:xfrm>
          <a:custGeom>
            <a:avLst/>
            <a:gdLst/>
            <a:ahLst/>
            <a:cxnLst/>
            <a:rect r="r" b="b" t="t" l="l"/>
            <a:pathLst>
              <a:path h="1668498" w="1725868">
                <a:moveTo>
                  <a:pt x="0" y="0"/>
                </a:moveTo>
                <a:lnTo>
                  <a:pt x="1725868" y="0"/>
                </a:lnTo>
                <a:lnTo>
                  <a:pt x="1725868" y="1668498"/>
                </a:lnTo>
                <a:lnTo>
                  <a:pt x="0" y="1668498"/>
                </a:lnTo>
                <a:lnTo>
                  <a:pt x="0" y="0"/>
                </a:lnTo>
                <a:close/>
              </a:path>
            </a:pathLst>
          </a:custGeom>
          <a:blipFill>
            <a:blip r:embed="rId7">
              <a:alphaModFix amt="54000"/>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3645597" y="1474029"/>
            <a:ext cx="9731177" cy="1566544"/>
          </a:xfrm>
          <a:prstGeom prst="rect">
            <a:avLst/>
          </a:prstGeom>
        </p:spPr>
        <p:txBody>
          <a:bodyPr anchor="t" rtlCol="false" tIns="0" lIns="0" bIns="0" rIns="0">
            <a:spAutoFit/>
          </a:bodyPr>
          <a:lstStyle/>
          <a:p>
            <a:pPr algn="ctr">
              <a:lnSpc>
                <a:spcPts val="12880"/>
              </a:lnSpc>
            </a:pPr>
            <a:r>
              <a:rPr lang="en-US" b="true" sz="9200">
                <a:solidFill>
                  <a:srgbClr val="00FFD1"/>
                </a:solidFill>
                <a:latin typeface="Canva Sans Bold"/>
                <a:ea typeface="Canva Sans Bold"/>
                <a:cs typeface="Canva Sans Bold"/>
                <a:sym typeface="Canva Sans Bold"/>
              </a:rPr>
              <a:t>IBM INTERNSHIP</a:t>
            </a:r>
          </a:p>
        </p:txBody>
      </p:sp>
      <p:sp>
        <p:nvSpPr>
          <p:cNvPr name="TextBox 16" id="16"/>
          <p:cNvSpPr txBox="true"/>
          <p:nvPr/>
        </p:nvSpPr>
        <p:spPr>
          <a:xfrm rot="0">
            <a:off x="1424386" y="5941145"/>
            <a:ext cx="9358908" cy="1811020"/>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Presented by : KARAN SINGH</a:t>
            </a:r>
          </a:p>
          <a:p>
            <a:pPr algn="ctr">
              <a:lnSpc>
                <a:spcPts val="7279"/>
              </a:lnSpc>
            </a:pPr>
            <a:r>
              <a:rPr lang="en-US" sz="5199" b="true">
                <a:solidFill>
                  <a:srgbClr val="FFFFFF"/>
                </a:solidFill>
                <a:latin typeface="Canva Sans Bold"/>
                <a:ea typeface="Canva Sans Bold"/>
                <a:cs typeface="Canva Sans Bold"/>
                <a:sym typeface="Canva Sans Bold"/>
              </a:rPr>
              <a:t>Course : Artificial Intelligece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44978" cy="812800"/>
          </a:xfrm>
        </p:grpSpPr>
        <p:sp>
          <p:nvSpPr>
            <p:cNvPr name="Freeform 3" id="3"/>
            <p:cNvSpPr/>
            <p:nvPr/>
          </p:nvSpPr>
          <p:spPr>
            <a:xfrm flipH="false" flipV="false" rot="0">
              <a:off x="0" y="0"/>
              <a:ext cx="1444978" cy="812800"/>
            </a:xfrm>
            <a:custGeom>
              <a:avLst/>
              <a:gdLst/>
              <a:ahLst/>
              <a:cxnLst/>
              <a:rect r="r" b="b" t="t" l="l"/>
              <a:pathLst>
                <a:path h="812800" w="1444978">
                  <a:moveTo>
                    <a:pt x="0" y="0"/>
                  </a:moveTo>
                  <a:lnTo>
                    <a:pt x="1444978" y="0"/>
                  </a:lnTo>
                  <a:lnTo>
                    <a:pt x="1444978" y="812800"/>
                  </a:lnTo>
                  <a:lnTo>
                    <a:pt x="0" y="812800"/>
                  </a:lnTo>
                  <a:close/>
                </a:path>
              </a:pathLst>
            </a:custGeom>
            <a:blipFill>
              <a:blip r:embed="rId2"/>
              <a:stretch>
                <a:fillRect l="-3317" t="0" r="-3317" b="0"/>
              </a:stretch>
            </a:blipFill>
          </p:spPr>
        </p:sp>
      </p:grpSp>
      <p:grpSp>
        <p:nvGrpSpPr>
          <p:cNvPr name="Group 4" id="4"/>
          <p:cNvGrpSpPr/>
          <p:nvPr/>
        </p:nvGrpSpPr>
        <p:grpSpPr>
          <a:xfrm rot="0">
            <a:off x="0" y="0"/>
            <a:ext cx="18288000" cy="10287000"/>
            <a:chOff x="0" y="0"/>
            <a:chExt cx="4816593" cy="2709333"/>
          </a:xfrm>
        </p:grpSpPr>
        <p:sp>
          <p:nvSpPr>
            <p:cNvPr name="Freeform 5" id="5"/>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11076D">
                    <a:alpha val="64000"/>
                  </a:srgbClr>
                </a:gs>
                <a:gs pos="100000">
                  <a:srgbClr val="144357">
                    <a:alpha val="64000"/>
                  </a:srgbClr>
                </a:gs>
              </a:gsLst>
              <a:path path="circle">
                <a:fillToRect l="0" r="100000" t="0" b="100000"/>
              </a:path>
              <a:tileRect r="0" l="-100000" b="0" t="-100000"/>
            </a:gradFill>
          </p:spPr>
        </p:sp>
        <p:sp>
          <p:nvSpPr>
            <p:cNvPr name="TextBox 6" id="6"/>
            <p:cNvSpPr txBox="true"/>
            <p:nvPr/>
          </p:nvSpPr>
          <p:spPr>
            <a:xfrm>
              <a:off x="0" y="-57150"/>
              <a:ext cx="4816593" cy="276648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3714793" y="9067928"/>
            <a:ext cx="672808" cy="672808"/>
          </a:xfrm>
          <a:custGeom>
            <a:avLst/>
            <a:gdLst/>
            <a:ahLst/>
            <a:cxnLst/>
            <a:rect r="r" b="b" t="t" l="l"/>
            <a:pathLst>
              <a:path h="672808" w="672808">
                <a:moveTo>
                  <a:pt x="0" y="0"/>
                </a:moveTo>
                <a:lnTo>
                  <a:pt x="672808" y="0"/>
                </a:lnTo>
                <a:lnTo>
                  <a:pt x="672808" y="672808"/>
                </a:lnTo>
                <a:lnTo>
                  <a:pt x="0" y="6728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089800" y="4243542"/>
            <a:ext cx="8353574" cy="5014758"/>
            <a:chOff x="0" y="0"/>
            <a:chExt cx="2200118" cy="1320759"/>
          </a:xfrm>
        </p:grpSpPr>
        <p:sp>
          <p:nvSpPr>
            <p:cNvPr name="Freeform 9" id="9"/>
            <p:cNvSpPr/>
            <p:nvPr/>
          </p:nvSpPr>
          <p:spPr>
            <a:xfrm flipH="false" flipV="false" rot="0">
              <a:off x="0" y="0"/>
              <a:ext cx="2200118" cy="1320759"/>
            </a:xfrm>
            <a:custGeom>
              <a:avLst/>
              <a:gdLst/>
              <a:ahLst/>
              <a:cxnLst/>
              <a:rect r="r" b="b" t="t" l="l"/>
              <a:pathLst>
                <a:path h="1320759" w="2200118">
                  <a:moveTo>
                    <a:pt x="47266" y="0"/>
                  </a:moveTo>
                  <a:lnTo>
                    <a:pt x="2152853" y="0"/>
                  </a:lnTo>
                  <a:cubicBezTo>
                    <a:pt x="2165388" y="0"/>
                    <a:pt x="2177410" y="4980"/>
                    <a:pt x="2186274" y="13844"/>
                  </a:cubicBezTo>
                  <a:cubicBezTo>
                    <a:pt x="2195138" y="22708"/>
                    <a:pt x="2200118" y="34730"/>
                    <a:pt x="2200118" y="47266"/>
                  </a:cubicBezTo>
                  <a:lnTo>
                    <a:pt x="2200118" y="1273493"/>
                  </a:lnTo>
                  <a:cubicBezTo>
                    <a:pt x="2200118" y="1299598"/>
                    <a:pt x="2178957" y="1320759"/>
                    <a:pt x="2152853" y="1320759"/>
                  </a:cubicBezTo>
                  <a:lnTo>
                    <a:pt x="47266" y="1320759"/>
                  </a:lnTo>
                  <a:cubicBezTo>
                    <a:pt x="34730" y="1320759"/>
                    <a:pt x="22708" y="1315779"/>
                    <a:pt x="13844" y="1306915"/>
                  </a:cubicBezTo>
                  <a:cubicBezTo>
                    <a:pt x="4980" y="1298051"/>
                    <a:pt x="0" y="1286029"/>
                    <a:pt x="0" y="1273493"/>
                  </a:cubicBezTo>
                  <a:lnTo>
                    <a:pt x="0" y="47266"/>
                  </a:lnTo>
                  <a:cubicBezTo>
                    <a:pt x="0" y="21162"/>
                    <a:pt x="21162" y="0"/>
                    <a:pt x="47266" y="0"/>
                  </a:cubicBezTo>
                  <a:close/>
                </a:path>
              </a:pathLst>
            </a:custGeom>
            <a:solidFill>
              <a:srgbClr val="21DEE8">
                <a:alpha val="12941"/>
              </a:srgbClr>
            </a:solidFill>
          </p:spPr>
        </p:sp>
        <p:sp>
          <p:nvSpPr>
            <p:cNvPr name="TextBox 10" id="10"/>
            <p:cNvSpPr txBox="true"/>
            <p:nvPr/>
          </p:nvSpPr>
          <p:spPr>
            <a:xfrm>
              <a:off x="0" y="-66675"/>
              <a:ext cx="2200118" cy="1387434"/>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10428859" y="1887923"/>
            <a:ext cx="6571868" cy="6511154"/>
            <a:chOff x="0" y="0"/>
            <a:chExt cx="1730862" cy="1714872"/>
          </a:xfrm>
        </p:grpSpPr>
        <p:sp>
          <p:nvSpPr>
            <p:cNvPr name="Freeform 12" id="12"/>
            <p:cNvSpPr/>
            <p:nvPr/>
          </p:nvSpPr>
          <p:spPr>
            <a:xfrm flipH="false" flipV="false" rot="0">
              <a:off x="0" y="0"/>
              <a:ext cx="1730862" cy="1714872"/>
            </a:xfrm>
            <a:custGeom>
              <a:avLst/>
              <a:gdLst/>
              <a:ahLst/>
              <a:cxnLst/>
              <a:rect r="r" b="b" t="t" l="l"/>
              <a:pathLst>
                <a:path h="1714872" w="1730862">
                  <a:moveTo>
                    <a:pt x="60080" y="0"/>
                  </a:moveTo>
                  <a:lnTo>
                    <a:pt x="1670782" y="0"/>
                  </a:lnTo>
                  <a:cubicBezTo>
                    <a:pt x="1703964" y="0"/>
                    <a:pt x="1730862" y="26899"/>
                    <a:pt x="1730862" y="60080"/>
                  </a:cubicBezTo>
                  <a:lnTo>
                    <a:pt x="1730862" y="1654792"/>
                  </a:lnTo>
                  <a:cubicBezTo>
                    <a:pt x="1730862" y="1687973"/>
                    <a:pt x="1703964" y="1714872"/>
                    <a:pt x="1670782" y="1714872"/>
                  </a:cubicBezTo>
                  <a:lnTo>
                    <a:pt x="60080" y="1714872"/>
                  </a:lnTo>
                  <a:cubicBezTo>
                    <a:pt x="26899" y="1714872"/>
                    <a:pt x="0" y="1687973"/>
                    <a:pt x="0" y="1654792"/>
                  </a:cubicBezTo>
                  <a:lnTo>
                    <a:pt x="0" y="60080"/>
                  </a:lnTo>
                  <a:cubicBezTo>
                    <a:pt x="0" y="26899"/>
                    <a:pt x="26899" y="0"/>
                    <a:pt x="60080" y="0"/>
                  </a:cubicBezTo>
                  <a:close/>
                </a:path>
              </a:pathLst>
            </a:custGeom>
            <a:ln w="47625" cap="rnd">
              <a:gradFill>
                <a:gsLst>
                  <a:gs pos="0">
                    <a:srgbClr val="004AB8">
                      <a:alpha val="100000"/>
                    </a:srgbClr>
                  </a:gs>
                  <a:gs pos="100000">
                    <a:srgbClr val="00FFD1">
                      <a:alpha val="100000"/>
                    </a:srgbClr>
                  </a:gs>
                </a:gsLst>
                <a:path path="circle">
                  <a:fillToRect l="0" r="100000" t="0" b="100000"/>
                </a:path>
                <a:tileRect r="0" l="-100000" b="0" t="-100000"/>
              </a:gradFill>
              <a:prstDash val="solid"/>
              <a:round/>
            </a:ln>
          </p:spPr>
        </p:sp>
        <p:sp>
          <p:nvSpPr>
            <p:cNvPr name="TextBox 13" id="13"/>
            <p:cNvSpPr txBox="true"/>
            <p:nvPr/>
          </p:nvSpPr>
          <p:spPr>
            <a:xfrm>
              <a:off x="0" y="-66675"/>
              <a:ext cx="1730862" cy="1781547"/>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0">
            <a:off x="10825600" y="2484465"/>
            <a:ext cx="6175128" cy="5749044"/>
            <a:chOff x="0" y="0"/>
            <a:chExt cx="6350000" cy="5911850"/>
          </a:xfrm>
        </p:grpSpPr>
        <p:sp>
          <p:nvSpPr>
            <p:cNvPr name="Freeform 15" id="15"/>
            <p:cNvSpPr/>
            <p:nvPr/>
          </p:nvSpPr>
          <p:spPr>
            <a:xfrm flipH="false" flipV="false" rot="0">
              <a:off x="302" y="0"/>
              <a:ext cx="6348428" cy="5911850"/>
            </a:xfrm>
            <a:custGeom>
              <a:avLst/>
              <a:gdLst/>
              <a:ahLst/>
              <a:cxnLst/>
              <a:rect r="r" b="b" t="t" l="l"/>
              <a:pathLst>
                <a:path h="5911850" w="6348428">
                  <a:moveTo>
                    <a:pt x="1146508" y="402590"/>
                  </a:moveTo>
                  <a:lnTo>
                    <a:pt x="108918" y="2192020"/>
                  </a:lnTo>
                  <a:cubicBezTo>
                    <a:pt x="-68882" y="2498090"/>
                    <a:pt x="-25702" y="2884170"/>
                    <a:pt x="214328" y="3144520"/>
                  </a:cubicBezTo>
                  <a:lnTo>
                    <a:pt x="2525728" y="5651500"/>
                  </a:lnTo>
                  <a:cubicBezTo>
                    <a:pt x="2678128" y="5817870"/>
                    <a:pt x="2894028" y="5911850"/>
                    <a:pt x="3118818" y="5911850"/>
                  </a:cubicBezTo>
                  <a:lnTo>
                    <a:pt x="5540708" y="5911850"/>
                  </a:lnTo>
                  <a:cubicBezTo>
                    <a:pt x="5986478" y="5911850"/>
                    <a:pt x="6348428" y="5549900"/>
                    <a:pt x="6348428" y="5104130"/>
                  </a:cubicBezTo>
                  <a:lnTo>
                    <a:pt x="6348428" y="1891030"/>
                  </a:lnTo>
                  <a:cubicBezTo>
                    <a:pt x="6348428" y="1724660"/>
                    <a:pt x="6297628" y="1562100"/>
                    <a:pt x="6201108" y="1426210"/>
                  </a:cubicBezTo>
                  <a:lnTo>
                    <a:pt x="5439108" y="342900"/>
                  </a:lnTo>
                  <a:cubicBezTo>
                    <a:pt x="5287978" y="128270"/>
                    <a:pt x="5041598" y="0"/>
                    <a:pt x="4778708" y="0"/>
                  </a:cubicBezTo>
                  <a:lnTo>
                    <a:pt x="1845008" y="0"/>
                  </a:lnTo>
                  <a:cubicBezTo>
                    <a:pt x="1556718" y="0"/>
                    <a:pt x="1290018" y="153670"/>
                    <a:pt x="1146508" y="402590"/>
                  </a:cubicBezTo>
                  <a:close/>
                </a:path>
              </a:pathLst>
            </a:custGeom>
            <a:blipFill>
              <a:blip r:embed="rId5"/>
              <a:stretch>
                <a:fillRect l="0" t="-5784" r="0" b="-5784"/>
              </a:stretch>
            </a:blipFill>
          </p:spPr>
        </p:sp>
      </p:grpSp>
      <p:sp>
        <p:nvSpPr>
          <p:cNvPr name="TextBox 16" id="16"/>
          <p:cNvSpPr txBox="true"/>
          <p:nvPr/>
        </p:nvSpPr>
        <p:spPr>
          <a:xfrm rot="0">
            <a:off x="927302" y="1129130"/>
            <a:ext cx="8654501" cy="1374711"/>
          </a:xfrm>
          <a:prstGeom prst="rect">
            <a:avLst/>
          </a:prstGeom>
        </p:spPr>
        <p:txBody>
          <a:bodyPr anchor="t" rtlCol="false" tIns="0" lIns="0" bIns="0" rIns="0">
            <a:spAutoFit/>
          </a:bodyPr>
          <a:lstStyle/>
          <a:p>
            <a:pPr algn="l">
              <a:lnSpc>
                <a:spcPts val="10321"/>
              </a:lnSpc>
            </a:pPr>
            <a:r>
              <a:rPr lang="en-US" sz="7372" b="true">
                <a:solidFill>
                  <a:srgbClr val="00FFD1"/>
                </a:solidFill>
                <a:latin typeface="Canva Sans Bold"/>
                <a:ea typeface="Canva Sans Bold"/>
                <a:cs typeface="Canva Sans Bold"/>
                <a:sym typeface="Canva Sans Bold"/>
              </a:rPr>
              <a:t>INTRODUCTION</a:t>
            </a:r>
          </a:p>
          <a:p>
            <a:pPr algn="l">
              <a:lnSpc>
                <a:spcPts val="132"/>
              </a:lnSpc>
            </a:pPr>
          </a:p>
        </p:txBody>
      </p:sp>
      <p:sp>
        <p:nvSpPr>
          <p:cNvPr name="TextBox 17" id="17"/>
          <p:cNvSpPr txBox="true"/>
          <p:nvPr/>
        </p:nvSpPr>
        <p:spPr>
          <a:xfrm rot="0">
            <a:off x="14592491" y="9163050"/>
            <a:ext cx="5333617" cy="577686"/>
          </a:xfrm>
          <a:prstGeom prst="rect">
            <a:avLst/>
          </a:prstGeom>
        </p:spPr>
        <p:txBody>
          <a:bodyPr anchor="t" rtlCol="false" tIns="0" lIns="0" bIns="0" rIns="0">
            <a:spAutoFit/>
          </a:bodyPr>
          <a:lstStyle/>
          <a:p>
            <a:pPr algn="l">
              <a:lnSpc>
                <a:spcPts val="4506"/>
              </a:lnSpc>
            </a:pPr>
            <a:r>
              <a:rPr lang="en-US" sz="3219" b="true">
                <a:solidFill>
                  <a:srgbClr val="FFFFFF"/>
                </a:solidFill>
                <a:latin typeface="Poppins Bold"/>
                <a:ea typeface="Poppins Bold"/>
                <a:cs typeface="Poppins Bold"/>
                <a:sym typeface="Poppins Bold"/>
              </a:rPr>
              <a:t>KARAN SINGH</a:t>
            </a:r>
          </a:p>
        </p:txBody>
      </p:sp>
      <p:sp>
        <p:nvSpPr>
          <p:cNvPr name="TextBox 18" id="18"/>
          <p:cNvSpPr txBox="true"/>
          <p:nvPr/>
        </p:nvSpPr>
        <p:spPr>
          <a:xfrm rot="0">
            <a:off x="1028700" y="2946333"/>
            <a:ext cx="8610054" cy="759469"/>
          </a:xfrm>
          <a:prstGeom prst="rect">
            <a:avLst/>
          </a:prstGeom>
        </p:spPr>
        <p:txBody>
          <a:bodyPr anchor="t" rtlCol="false" tIns="0" lIns="0" bIns="0" rIns="0">
            <a:spAutoFit/>
          </a:bodyPr>
          <a:lstStyle/>
          <a:p>
            <a:pPr algn="l">
              <a:lnSpc>
                <a:spcPts val="6155"/>
              </a:lnSpc>
            </a:pPr>
            <a:r>
              <a:rPr lang="en-US" sz="4396">
                <a:solidFill>
                  <a:srgbClr val="FFFFFF"/>
                </a:solidFill>
                <a:latin typeface="Canva Sans"/>
                <a:ea typeface="Canva Sans"/>
                <a:cs typeface="Canva Sans"/>
                <a:sym typeface="Canva Sans"/>
              </a:rPr>
              <a:t>What is Salary Prediction?</a:t>
            </a:r>
          </a:p>
        </p:txBody>
      </p:sp>
      <p:sp>
        <p:nvSpPr>
          <p:cNvPr name="TextBox 19" id="19"/>
          <p:cNvSpPr txBox="true"/>
          <p:nvPr/>
        </p:nvSpPr>
        <p:spPr>
          <a:xfrm rot="0">
            <a:off x="1365104" y="4576917"/>
            <a:ext cx="7778896" cy="5722810"/>
          </a:xfrm>
          <a:prstGeom prst="rect">
            <a:avLst/>
          </a:prstGeom>
        </p:spPr>
        <p:txBody>
          <a:bodyPr anchor="t" rtlCol="false" tIns="0" lIns="0" bIns="0" rIns="0">
            <a:spAutoFit/>
          </a:bodyPr>
          <a:lstStyle/>
          <a:p>
            <a:pPr algn="just">
              <a:lnSpc>
                <a:spcPts val="3360"/>
              </a:lnSpc>
            </a:pPr>
            <a:r>
              <a:rPr lang="en-US" sz="2585" spc="-152">
                <a:solidFill>
                  <a:srgbClr val="FFFFFF"/>
                </a:solidFill>
                <a:latin typeface="Poppins"/>
                <a:ea typeface="Poppins"/>
                <a:cs typeface="Poppins"/>
                <a:sym typeface="Poppins"/>
              </a:rPr>
              <a:t>Salary prediction is the process of estimating an employee's salary based on various factors such as years of experience, education level, skills, job role, and location. Organizations often need reliable methods to determine fair and competitive salaries for employees.</a:t>
            </a:r>
          </a:p>
          <a:p>
            <a:pPr algn="just">
              <a:lnSpc>
                <a:spcPts val="3100"/>
              </a:lnSpc>
            </a:pPr>
          </a:p>
          <a:p>
            <a:pPr algn="just" marL="558102" indent="-279051" lvl="1">
              <a:lnSpc>
                <a:spcPts val="3360"/>
              </a:lnSpc>
              <a:buFont typeface="Arial"/>
              <a:buChar char="•"/>
            </a:pPr>
            <a:r>
              <a:rPr lang="en-US" sz="2585" spc="-152">
                <a:solidFill>
                  <a:srgbClr val="FFFFFF"/>
                </a:solidFill>
                <a:latin typeface="Poppins"/>
                <a:ea typeface="Poppins"/>
                <a:cs typeface="Poppins"/>
                <a:sym typeface="Poppins"/>
              </a:rPr>
              <a:t>Companies want to estimate salaries based on experience and skills.</a:t>
            </a:r>
          </a:p>
          <a:p>
            <a:pPr algn="just" marL="558102" indent="-279051" lvl="1">
              <a:lnSpc>
                <a:spcPts val="3360"/>
              </a:lnSpc>
              <a:buFont typeface="Arial"/>
              <a:buChar char="•"/>
            </a:pPr>
            <a:r>
              <a:rPr lang="en-US" sz="2585" spc="-152">
                <a:solidFill>
                  <a:srgbClr val="FFFFFF"/>
                </a:solidFill>
                <a:latin typeface="Poppins"/>
                <a:ea typeface="Poppins"/>
                <a:cs typeface="Poppins"/>
                <a:sym typeface="Poppins"/>
              </a:rPr>
              <a:t>Machine learning helps predict salary using past data.</a:t>
            </a:r>
          </a:p>
          <a:p>
            <a:pPr algn="just">
              <a:lnSpc>
                <a:spcPts val="3100"/>
              </a:lnSpc>
            </a:pPr>
          </a:p>
          <a:p>
            <a:pPr algn="just" marL="0" indent="0" lvl="0">
              <a:lnSpc>
                <a:spcPts val="3100"/>
              </a:lnSpc>
            </a:pPr>
          </a:p>
          <a:p>
            <a:pPr algn="just" marL="0" indent="0" lvl="0">
              <a:lnSpc>
                <a:spcPts val="284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44978" cy="812800"/>
          </a:xfrm>
        </p:grpSpPr>
        <p:sp>
          <p:nvSpPr>
            <p:cNvPr name="Freeform 3" id="3"/>
            <p:cNvSpPr/>
            <p:nvPr/>
          </p:nvSpPr>
          <p:spPr>
            <a:xfrm flipH="false" flipV="false" rot="0">
              <a:off x="0" y="0"/>
              <a:ext cx="1444978" cy="812800"/>
            </a:xfrm>
            <a:custGeom>
              <a:avLst/>
              <a:gdLst/>
              <a:ahLst/>
              <a:cxnLst/>
              <a:rect r="r" b="b" t="t" l="l"/>
              <a:pathLst>
                <a:path h="812800" w="1444978">
                  <a:moveTo>
                    <a:pt x="0" y="0"/>
                  </a:moveTo>
                  <a:lnTo>
                    <a:pt x="1444978" y="0"/>
                  </a:lnTo>
                  <a:lnTo>
                    <a:pt x="1444978" y="812800"/>
                  </a:lnTo>
                  <a:lnTo>
                    <a:pt x="0" y="812800"/>
                  </a:lnTo>
                  <a:close/>
                </a:path>
              </a:pathLst>
            </a:custGeom>
            <a:blipFill>
              <a:blip r:embed="rId2"/>
              <a:stretch>
                <a:fillRect l="-3317" t="0" r="-3317" b="0"/>
              </a:stretch>
            </a:blipFill>
          </p:spPr>
        </p:sp>
      </p:grpSp>
      <p:grpSp>
        <p:nvGrpSpPr>
          <p:cNvPr name="Group 4" id="4"/>
          <p:cNvGrpSpPr/>
          <p:nvPr/>
        </p:nvGrpSpPr>
        <p:grpSpPr>
          <a:xfrm rot="0">
            <a:off x="-9906" y="0"/>
            <a:ext cx="18288000" cy="10287000"/>
            <a:chOff x="0" y="0"/>
            <a:chExt cx="4816593" cy="2709333"/>
          </a:xfrm>
        </p:grpSpPr>
        <p:sp>
          <p:nvSpPr>
            <p:cNvPr name="Freeform 5" id="5"/>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11076D">
                    <a:alpha val="64000"/>
                  </a:srgbClr>
                </a:gs>
                <a:gs pos="100000">
                  <a:srgbClr val="144357">
                    <a:alpha val="64000"/>
                  </a:srgbClr>
                </a:gs>
              </a:gsLst>
              <a:path path="circle">
                <a:fillToRect l="0" r="100000" t="0" b="100000"/>
              </a:path>
              <a:tileRect r="0" l="-100000" b="0" t="-100000"/>
            </a:gradFill>
          </p:spPr>
        </p:sp>
        <p:sp>
          <p:nvSpPr>
            <p:cNvPr name="TextBox 6" id="6"/>
            <p:cNvSpPr txBox="true"/>
            <p:nvPr/>
          </p:nvSpPr>
          <p:spPr>
            <a:xfrm>
              <a:off x="0" y="-57150"/>
              <a:ext cx="4816593" cy="276648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4505001" y="9356080"/>
            <a:ext cx="672808" cy="672808"/>
          </a:xfrm>
          <a:custGeom>
            <a:avLst/>
            <a:gdLst/>
            <a:ahLst/>
            <a:cxnLst/>
            <a:rect r="r" b="b" t="t" l="l"/>
            <a:pathLst>
              <a:path h="672808" w="672808">
                <a:moveTo>
                  <a:pt x="0" y="0"/>
                </a:moveTo>
                <a:lnTo>
                  <a:pt x="672808" y="0"/>
                </a:lnTo>
                <a:lnTo>
                  <a:pt x="672808" y="672808"/>
                </a:lnTo>
                <a:lnTo>
                  <a:pt x="0" y="6728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570486" y="4666714"/>
            <a:ext cx="15740058" cy="4429891"/>
            <a:chOff x="0" y="0"/>
            <a:chExt cx="4145530" cy="1166720"/>
          </a:xfrm>
        </p:grpSpPr>
        <p:sp>
          <p:nvSpPr>
            <p:cNvPr name="Freeform 9" id="9"/>
            <p:cNvSpPr/>
            <p:nvPr/>
          </p:nvSpPr>
          <p:spPr>
            <a:xfrm flipH="false" flipV="false" rot="0">
              <a:off x="0" y="0"/>
              <a:ext cx="4145530" cy="1166720"/>
            </a:xfrm>
            <a:custGeom>
              <a:avLst/>
              <a:gdLst/>
              <a:ahLst/>
              <a:cxnLst/>
              <a:rect r="r" b="b" t="t" l="l"/>
              <a:pathLst>
                <a:path h="1166720" w="4145530">
                  <a:moveTo>
                    <a:pt x="25085" y="0"/>
                  </a:moveTo>
                  <a:lnTo>
                    <a:pt x="4120445" y="0"/>
                  </a:lnTo>
                  <a:cubicBezTo>
                    <a:pt x="4134299" y="0"/>
                    <a:pt x="4145530" y="11231"/>
                    <a:pt x="4145530" y="25085"/>
                  </a:cubicBezTo>
                  <a:lnTo>
                    <a:pt x="4145530" y="1141635"/>
                  </a:lnTo>
                  <a:cubicBezTo>
                    <a:pt x="4145530" y="1155489"/>
                    <a:pt x="4134299" y="1166720"/>
                    <a:pt x="4120445" y="1166720"/>
                  </a:cubicBezTo>
                  <a:lnTo>
                    <a:pt x="25085" y="1166720"/>
                  </a:lnTo>
                  <a:cubicBezTo>
                    <a:pt x="11231" y="1166720"/>
                    <a:pt x="0" y="1155489"/>
                    <a:pt x="0" y="1141635"/>
                  </a:cubicBezTo>
                  <a:lnTo>
                    <a:pt x="0" y="25085"/>
                  </a:lnTo>
                  <a:cubicBezTo>
                    <a:pt x="0" y="11231"/>
                    <a:pt x="11231" y="0"/>
                    <a:pt x="25085" y="0"/>
                  </a:cubicBezTo>
                  <a:close/>
                </a:path>
              </a:pathLst>
            </a:custGeom>
            <a:solidFill>
              <a:srgbClr val="21DEE8">
                <a:alpha val="12941"/>
              </a:srgbClr>
            </a:solidFill>
          </p:spPr>
        </p:sp>
        <p:sp>
          <p:nvSpPr>
            <p:cNvPr name="TextBox 10" id="10"/>
            <p:cNvSpPr txBox="true"/>
            <p:nvPr/>
          </p:nvSpPr>
          <p:spPr>
            <a:xfrm>
              <a:off x="0" y="-66675"/>
              <a:ext cx="4145530" cy="1233395"/>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480192" y="4666714"/>
            <a:ext cx="16248798" cy="4591586"/>
            <a:chOff x="0" y="0"/>
            <a:chExt cx="4279519" cy="1209307"/>
          </a:xfrm>
        </p:grpSpPr>
        <p:sp>
          <p:nvSpPr>
            <p:cNvPr name="Freeform 12" id="12"/>
            <p:cNvSpPr/>
            <p:nvPr/>
          </p:nvSpPr>
          <p:spPr>
            <a:xfrm flipH="false" flipV="false" rot="0">
              <a:off x="0" y="0"/>
              <a:ext cx="4279519" cy="1209307"/>
            </a:xfrm>
            <a:custGeom>
              <a:avLst/>
              <a:gdLst/>
              <a:ahLst/>
              <a:cxnLst/>
              <a:rect r="r" b="b" t="t" l="l"/>
              <a:pathLst>
                <a:path h="1209307" w="4279519">
                  <a:moveTo>
                    <a:pt x="24300" y="0"/>
                  </a:moveTo>
                  <a:lnTo>
                    <a:pt x="4255219" y="0"/>
                  </a:lnTo>
                  <a:cubicBezTo>
                    <a:pt x="4268639" y="0"/>
                    <a:pt x="4279519" y="10879"/>
                    <a:pt x="4279519" y="24300"/>
                  </a:cubicBezTo>
                  <a:lnTo>
                    <a:pt x="4279519" y="1185007"/>
                  </a:lnTo>
                  <a:cubicBezTo>
                    <a:pt x="4279519" y="1191452"/>
                    <a:pt x="4276959" y="1197633"/>
                    <a:pt x="4272402" y="1202190"/>
                  </a:cubicBezTo>
                  <a:cubicBezTo>
                    <a:pt x="4267845" y="1206747"/>
                    <a:pt x="4261664" y="1209307"/>
                    <a:pt x="4255219" y="1209307"/>
                  </a:cubicBezTo>
                  <a:lnTo>
                    <a:pt x="24300" y="1209307"/>
                  </a:lnTo>
                  <a:cubicBezTo>
                    <a:pt x="10879" y="1209307"/>
                    <a:pt x="0" y="1198427"/>
                    <a:pt x="0" y="1185007"/>
                  </a:cubicBezTo>
                  <a:lnTo>
                    <a:pt x="0" y="24300"/>
                  </a:lnTo>
                  <a:cubicBezTo>
                    <a:pt x="0" y="10879"/>
                    <a:pt x="10879" y="0"/>
                    <a:pt x="24300" y="0"/>
                  </a:cubicBezTo>
                  <a:close/>
                </a:path>
              </a:pathLst>
            </a:custGeom>
            <a:ln w="47625" cap="rnd">
              <a:gradFill>
                <a:gsLst>
                  <a:gs pos="0">
                    <a:srgbClr val="004AB8">
                      <a:alpha val="100000"/>
                    </a:srgbClr>
                  </a:gs>
                  <a:gs pos="100000">
                    <a:srgbClr val="00FFD1">
                      <a:alpha val="100000"/>
                    </a:srgbClr>
                  </a:gs>
                </a:gsLst>
                <a:path path="circle">
                  <a:fillToRect l="0" r="100000" t="0" b="100000"/>
                </a:path>
                <a:tileRect r="0" l="-100000" b="0" t="-100000"/>
              </a:gradFill>
              <a:prstDash val="solid"/>
              <a:round/>
            </a:ln>
          </p:spPr>
        </p:sp>
        <p:sp>
          <p:nvSpPr>
            <p:cNvPr name="TextBox 13" id="13"/>
            <p:cNvSpPr txBox="true"/>
            <p:nvPr/>
          </p:nvSpPr>
          <p:spPr>
            <a:xfrm>
              <a:off x="0" y="-66675"/>
              <a:ext cx="4279519" cy="1275982"/>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15419047" y="1798562"/>
            <a:ext cx="2619885" cy="2532798"/>
          </a:xfrm>
          <a:custGeom>
            <a:avLst/>
            <a:gdLst/>
            <a:ahLst/>
            <a:cxnLst/>
            <a:rect r="r" b="b" t="t" l="l"/>
            <a:pathLst>
              <a:path h="2532798" w="2619885">
                <a:moveTo>
                  <a:pt x="0" y="0"/>
                </a:moveTo>
                <a:lnTo>
                  <a:pt x="2619885" y="0"/>
                </a:lnTo>
                <a:lnTo>
                  <a:pt x="2619885" y="2532797"/>
                </a:lnTo>
                <a:lnTo>
                  <a:pt x="0" y="2532797"/>
                </a:lnTo>
                <a:lnTo>
                  <a:pt x="0" y="0"/>
                </a:lnTo>
                <a:close/>
              </a:path>
            </a:pathLst>
          </a:custGeom>
          <a:blipFill>
            <a:blip r:embed="rId5">
              <a:alphaModFix amt="54000"/>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10971071" y="1365104"/>
            <a:ext cx="7067861" cy="3183243"/>
            <a:chOff x="0" y="0"/>
            <a:chExt cx="8459470" cy="3810000"/>
          </a:xfrm>
        </p:grpSpPr>
        <p:sp>
          <p:nvSpPr>
            <p:cNvPr name="Freeform 16" id="16"/>
            <p:cNvSpPr/>
            <p:nvPr/>
          </p:nvSpPr>
          <p:spPr>
            <a:xfrm flipH="true" flipV="false" rot="0">
              <a:off x="0" y="0"/>
              <a:ext cx="8459470" cy="3808730"/>
            </a:xfrm>
            <a:custGeom>
              <a:avLst/>
              <a:gdLst/>
              <a:ahLst/>
              <a:cxnLst/>
              <a:rect r="r" b="b" t="t" l="l"/>
              <a:pathLst>
                <a:path h="3808730" w="8459470">
                  <a:moveTo>
                    <a:pt x="8001000" y="0"/>
                  </a:moveTo>
                  <a:lnTo>
                    <a:pt x="458470" y="0"/>
                  </a:lnTo>
                  <a:cubicBezTo>
                    <a:pt x="204470" y="0"/>
                    <a:pt x="0" y="205740"/>
                    <a:pt x="0" y="458470"/>
                  </a:cubicBezTo>
                  <a:lnTo>
                    <a:pt x="0" y="2320290"/>
                  </a:lnTo>
                  <a:cubicBezTo>
                    <a:pt x="0" y="2451100"/>
                    <a:pt x="55880" y="2576830"/>
                    <a:pt x="154939" y="2663190"/>
                  </a:cubicBezTo>
                  <a:lnTo>
                    <a:pt x="1318260" y="3693160"/>
                  </a:lnTo>
                  <a:cubicBezTo>
                    <a:pt x="1402080" y="3768090"/>
                    <a:pt x="1510030" y="3808730"/>
                    <a:pt x="1623060" y="3808730"/>
                  </a:cubicBezTo>
                  <a:lnTo>
                    <a:pt x="4699000" y="3808730"/>
                  </a:lnTo>
                  <a:cubicBezTo>
                    <a:pt x="4953000" y="3808730"/>
                    <a:pt x="5157470" y="3602990"/>
                    <a:pt x="5157470" y="3350260"/>
                  </a:cubicBezTo>
                  <a:lnTo>
                    <a:pt x="5157470" y="3227070"/>
                  </a:lnTo>
                  <a:cubicBezTo>
                    <a:pt x="5157470" y="2973070"/>
                    <a:pt x="5363210" y="2768600"/>
                    <a:pt x="5615940" y="2768600"/>
                  </a:cubicBezTo>
                  <a:lnTo>
                    <a:pt x="8001000" y="2768600"/>
                  </a:lnTo>
                  <a:cubicBezTo>
                    <a:pt x="8253730" y="2768600"/>
                    <a:pt x="8459470" y="2562860"/>
                    <a:pt x="8459470" y="2310130"/>
                  </a:cubicBezTo>
                  <a:lnTo>
                    <a:pt x="8459470" y="458470"/>
                  </a:lnTo>
                  <a:cubicBezTo>
                    <a:pt x="8459470" y="205740"/>
                    <a:pt x="8253730" y="0"/>
                    <a:pt x="8001000" y="0"/>
                  </a:cubicBezTo>
                  <a:close/>
                </a:path>
              </a:pathLst>
            </a:custGeom>
            <a:blipFill>
              <a:blip r:embed="rId7"/>
              <a:stretch>
                <a:fillRect l="0" t="-14411" r="0" b="-14411"/>
              </a:stretch>
            </a:blipFill>
          </p:spPr>
        </p:sp>
      </p:grpSp>
      <p:sp>
        <p:nvSpPr>
          <p:cNvPr name="Freeform 17" id="17"/>
          <p:cNvSpPr/>
          <p:nvPr/>
        </p:nvSpPr>
        <p:spPr>
          <a:xfrm flipH="false" flipV="false" rot="0">
            <a:off x="-1591185" y="5143500"/>
            <a:ext cx="2619885" cy="2532798"/>
          </a:xfrm>
          <a:custGeom>
            <a:avLst/>
            <a:gdLst/>
            <a:ahLst/>
            <a:cxnLst/>
            <a:rect r="r" b="b" t="t" l="l"/>
            <a:pathLst>
              <a:path h="2532798" w="2619885">
                <a:moveTo>
                  <a:pt x="0" y="0"/>
                </a:moveTo>
                <a:lnTo>
                  <a:pt x="2619885" y="0"/>
                </a:lnTo>
                <a:lnTo>
                  <a:pt x="2619885" y="2532798"/>
                </a:lnTo>
                <a:lnTo>
                  <a:pt x="0" y="2532798"/>
                </a:lnTo>
                <a:lnTo>
                  <a:pt x="0" y="0"/>
                </a:lnTo>
                <a:close/>
              </a:path>
            </a:pathLst>
          </a:custGeom>
          <a:blipFill>
            <a:blip r:embed="rId5">
              <a:alphaModFix amt="54000"/>
              <a:extLst>
                <a:ext uri="{96DAC541-7B7A-43D3-8B79-37D633B846F1}">
                  <asvg:svgBlip xmlns:asvg="http://schemas.microsoft.com/office/drawing/2016/SVG/main" r:embed="rId6"/>
                </a:ext>
              </a:extLst>
            </a:blip>
            <a:stretch>
              <a:fillRect l="0" t="0" r="0" b="0"/>
            </a:stretch>
          </a:blipFill>
        </p:spPr>
      </p:sp>
      <p:sp>
        <p:nvSpPr>
          <p:cNvPr name="TextBox 18" id="18"/>
          <p:cNvSpPr txBox="true"/>
          <p:nvPr/>
        </p:nvSpPr>
        <p:spPr>
          <a:xfrm rot="0">
            <a:off x="574746" y="604885"/>
            <a:ext cx="9796174" cy="1368038"/>
          </a:xfrm>
          <a:prstGeom prst="rect">
            <a:avLst/>
          </a:prstGeom>
        </p:spPr>
        <p:txBody>
          <a:bodyPr anchor="t" rtlCol="false" tIns="0" lIns="0" bIns="0" rIns="0">
            <a:spAutoFit/>
          </a:bodyPr>
          <a:lstStyle/>
          <a:p>
            <a:pPr algn="l">
              <a:lnSpc>
                <a:spcPts val="11221"/>
              </a:lnSpc>
            </a:pPr>
            <a:r>
              <a:rPr lang="en-US" sz="8015" b="true">
                <a:solidFill>
                  <a:srgbClr val="00FFD1"/>
                </a:solidFill>
                <a:latin typeface="Canva Sans Bold"/>
                <a:ea typeface="Canva Sans Bold"/>
                <a:cs typeface="Canva Sans Bold"/>
                <a:sym typeface="Canva Sans Bold"/>
              </a:rPr>
              <a:t>Problem Statement</a:t>
            </a:r>
          </a:p>
        </p:txBody>
      </p:sp>
      <p:sp>
        <p:nvSpPr>
          <p:cNvPr name="TextBox 19" id="19"/>
          <p:cNvSpPr txBox="true"/>
          <p:nvPr/>
        </p:nvSpPr>
        <p:spPr>
          <a:xfrm rot="0">
            <a:off x="15188314" y="9578039"/>
            <a:ext cx="4141972" cy="450849"/>
          </a:xfrm>
          <a:prstGeom prst="rect">
            <a:avLst/>
          </a:prstGeom>
        </p:spPr>
        <p:txBody>
          <a:bodyPr anchor="t" rtlCol="false" tIns="0" lIns="0" bIns="0" rIns="0">
            <a:spAutoFit/>
          </a:bodyPr>
          <a:lstStyle/>
          <a:p>
            <a:pPr algn="l">
              <a:lnSpc>
                <a:spcPts val="3500"/>
              </a:lnSpc>
            </a:pPr>
            <a:r>
              <a:rPr lang="en-US" sz="2500" b="true">
                <a:solidFill>
                  <a:srgbClr val="FFFFFF"/>
                </a:solidFill>
                <a:latin typeface="Poppins Bold"/>
                <a:ea typeface="Poppins Bold"/>
                <a:cs typeface="Poppins Bold"/>
                <a:sym typeface="Poppins Bold"/>
              </a:rPr>
              <a:t>KARAN SINGH</a:t>
            </a:r>
          </a:p>
        </p:txBody>
      </p:sp>
      <p:sp>
        <p:nvSpPr>
          <p:cNvPr name="TextBox 20" id="20"/>
          <p:cNvSpPr txBox="true"/>
          <p:nvPr/>
        </p:nvSpPr>
        <p:spPr>
          <a:xfrm rot="0">
            <a:off x="692296" y="2323129"/>
            <a:ext cx="9561074" cy="2008230"/>
          </a:xfrm>
          <a:prstGeom prst="rect">
            <a:avLst/>
          </a:prstGeom>
        </p:spPr>
        <p:txBody>
          <a:bodyPr anchor="t" rtlCol="false" tIns="0" lIns="0" bIns="0" rIns="0">
            <a:spAutoFit/>
          </a:bodyPr>
          <a:lstStyle/>
          <a:p>
            <a:pPr algn="l">
              <a:lnSpc>
                <a:spcPts val="5335"/>
              </a:lnSpc>
            </a:pPr>
            <a:r>
              <a:rPr lang="en-US" sz="3810" b="true">
                <a:solidFill>
                  <a:srgbClr val="FFFFFF"/>
                </a:solidFill>
                <a:latin typeface="Canva Sans Bold"/>
                <a:ea typeface="Canva Sans Bold"/>
                <a:cs typeface="Canva Sans Bold"/>
                <a:sym typeface="Canva Sans Bold"/>
              </a:rPr>
              <a:t>Predict employee salary using regression based on years of experience.</a:t>
            </a:r>
          </a:p>
        </p:txBody>
      </p:sp>
      <p:sp>
        <p:nvSpPr>
          <p:cNvPr name="TextBox 21" id="21"/>
          <p:cNvSpPr txBox="true"/>
          <p:nvPr/>
        </p:nvSpPr>
        <p:spPr>
          <a:xfrm rot="0">
            <a:off x="595417" y="4872197"/>
            <a:ext cx="14823630" cy="3775303"/>
          </a:xfrm>
          <a:prstGeom prst="rect">
            <a:avLst/>
          </a:prstGeom>
        </p:spPr>
        <p:txBody>
          <a:bodyPr anchor="t" rtlCol="false" tIns="0" lIns="0" bIns="0" rIns="0">
            <a:spAutoFit/>
          </a:bodyPr>
          <a:lstStyle/>
          <a:p>
            <a:pPr algn="just" marL="749274" indent="-374637" lvl="1">
              <a:lnSpc>
                <a:spcPts val="4962"/>
              </a:lnSpc>
              <a:buFont typeface="Arial"/>
              <a:buChar char="•"/>
            </a:pPr>
            <a:r>
              <a:rPr lang="en-US" sz="3470" spc="-204">
                <a:solidFill>
                  <a:srgbClr val="FFFFFF"/>
                </a:solidFill>
                <a:latin typeface="Poppins"/>
                <a:ea typeface="Poppins"/>
                <a:cs typeface="Poppins"/>
                <a:sym typeface="Poppins"/>
              </a:rPr>
              <a:t>Salary estimation is often done manually and may be inaccurate.</a:t>
            </a:r>
          </a:p>
          <a:p>
            <a:pPr algn="just" marL="749274" indent="-374637" lvl="1">
              <a:lnSpc>
                <a:spcPts val="4962"/>
              </a:lnSpc>
              <a:buFont typeface="Arial"/>
              <a:buChar char="•"/>
            </a:pPr>
            <a:r>
              <a:rPr lang="en-US" sz="3470" spc="-204" u="none">
                <a:solidFill>
                  <a:srgbClr val="FFFFFF"/>
                </a:solidFill>
                <a:latin typeface="Poppins"/>
                <a:ea typeface="Poppins"/>
                <a:cs typeface="Poppins"/>
                <a:sym typeface="Poppins"/>
              </a:rPr>
              <a:t>Organizations need a data-driven method to predict employee salaries.</a:t>
            </a:r>
          </a:p>
          <a:p>
            <a:pPr algn="just" marL="749274" indent="-374637" lvl="1">
              <a:lnSpc>
                <a:spcPts val="4962"/>
              </a:lnSpc>
              <a:buFont typeface="Arial"/>
              <a:buChar char="•"/>
            </a:pPr>
            <a:r>
              <a:rPr lang="en-US" sz="3470" spc="-204" u="none">
                <a:solidFill>
                  <a:srgbClr val="FFFFFF"/>
                </a:solidFill>
                <a:latin typeface="Poppins"/>
                <a:ea typeface="Poppins"/>
                <a:cs typeface="Poppins"/>
                <a:sym typeface="Poppins"/>
              </a:rPr>
              <a:t>Predicting salary based on experience and historical data can improve decision making.</a:t>
            </a:r>
          </a:p>
          <a:p>
            <a:pPr algn="just" marL="749274" indent="-374637" lvl="1">
              <a:lnSpc>
                <a:spcPts val="4962"/>
              </a:lnSpc>
              <a:buFont typeface="Arial"/>
              <a:buChar char="•"/>
            </a:pPr>
            <a:r>
              <a:rPr lang="en-US" sz="3470" spc="-204" u="none">
                <a:solidFill>
                  <a:srgbClr val="FFFFFF"/>
                </a:solidFill>
                <a:latin typeface="Poppins"/>
                <a:ea typeface="Poppins"/>
                <a:cs typeface="Poppins"/>
                <a:sym typeface="Poppins"/>
              </a:rPr>
              <a:t>This project uses regression techniques to predict salary efficiently.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44978" cy="812800"/>
          </a:xfrm>
        </p:grpSpPr>
        <p:sp>
          <p:nvSpPr>
            <p:cNvPr name="Freeform 3" id="3"/>
            <p:cNvSpPr/>
            <p:nvPr/>
          </p:nvSpPr>
          <p:spPr>
            <a:xfrm flipH="false" flipV="false" rot="0">
              <a:off x="0" y="0"/>
              <a:ext cx="1444978" cy="812800"/>
            </a:xfrm>
            <a:custGeom>
              <a:avLst/>
              <a:gdLst/>
              <a:ahLst/>
              <a:cxnLst/>
              <a:rect r="r" b="b" t="t" l="l"/>
              <a:pathLst>
                <a:path h="812800" w="1444978">
                  <a:moveTo>
                    <a:pt x="0" y="0"/>
                  </a:moveTo>
                  <a:lnTo>
                    <a:pt x="1444978" y="0"/>
                  </a:lnTo>
                  <a:lnTo>
                    <a:pt x="1444978" y="812800"/>
                  </a:lnTo>
                  <a:lnTo>
                    <a:pt x="0" y="812800"/>
                  </a:lnTo>
                  <a:close/>
                </a:path>
              </a:pathLst>
            </a:custGeom>
            <a:blipFill>
              <a:blip r:embed="rId2"/>
              <a:stretch>
                <a:fillRect l="-3317" t="0" r="-3317" b="0"/>
              </a:stretch>
            </a:blipFill>
          </p:spPr>
        </p:sp>
      </p:grpSp>
      <p:grpSp>
        <p:nvGrpSpPr>
          <p:cNvPr name="Group 4" id="4"/>
          <p:cNvGrpSpPr/>
          <p:nvPr/>
        </p:nvGrpSpPr>
        <p:grpSpPr>
          <a:xfrm rot="0">
            <a:off x="0" y="0"/>
            <a:ext cx="18288000" cy="10287000"/>
            <a:chOff x="0" y="0"/>
            <a:chExt cx="4816593" cy="2709333"/>
          </a:xfrm>
        </p:grpSpPr>
        <p:sp>
          <p:nvSpPr>
            <p:cNvPr name="Freeform 5" id="5"/>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11076D">
                    <a:alpha val="64000"/>
                  </a:srgbClr>
                </a:gs>
                <a:gs pos="100000">
                  <a:srgbClr val="144357">
                    <a:alpha val="64000"/>
                  </a:srgbClr>
                </a:gs>
              </a:gsLst>
              <a:path path="circle">
                <a:fillToRect l="0" r="100000" t="0" b="100000"/>
              </a:path>
              <a:tileRect r="0" l="-100000" b="0" t="-100000"/>
            </a:gradFill>
          </p:spPr>
        </p:sp>
        <p:sp>
          <p:nvSpPr>
            <p:cNvPr name="TextBox 6" id="6"/>
            <p:cNvSpPr txBox="true"/>
            <p:nvPr/>
          </p:nvSpPr>
          <p:spPr>
            <a:xfrm>
              <a:off x="0" y="-57150"/>
              <a:ext cx="4816593" cy="276648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4561400" y="9198276"/>
            <a:ext cx="672808" cy="672808"/>
          </a:xfrm>
          <a:custGeom>
            <a:avLst/>
            <a:gdLst/>
            <a:ahLst/>
            <a:cxnLst/>
            <a:rect r="r" b="b" t="t" l="l"/>
            <a:pathLst>
              <a:path h="672808" w="672808">
                <a:moveTo>
                  <a:pt x="0" y="0"/>
                </a:moveTo>
                <a:lnTo>
                  <a:pt x="672808" y="0"/>
                </a:lnTo>
                <a:lnTo>
                  <a:pt x="672808" y="672808"/>
                </a:lnTo>
                <a:lnTo>
                  <a:pt x="0" y="6728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317438" y="3410482"/>
            <a:ext cx="10134752" cy="6124198"/>
            <a:chOff x="0" y="0"/>
            <a:chExt cx="2669235" cy="1612958"/>
          </a:xfrm>
        </p:grpSpPr>
        <p:sp>
          <p:nvSpPr>
            <p:cNvPr name="Freeform 9" id="9"/>
            <p:cNvSpPr/>
            <p:nvPr/>
          </p:nvSpPr>
          <p:spPr>
            <a:xfrm flipH="false" flipV="false" rot="0">
              <a:off x="0" y="0"/>
              <a:ext cx="2669235" cy="1612958"/>
            </a:xfrm>
            <a:custGeom>
              <a:avLst/>
              <a:gdLst/>
              <a:ahLst/>
              <a:cxnLst/>
              <a:rect r="r" b="b" t="t" l="l"/>
              <a:pathLst>
                <a:path h="1612958" w="2669235">
                  <a:moveTo>
                    <a:pt x="38959" y="0"/>
                  </a:moveTo>
                  <a:lnTo>
                    <a:pt x="2630276" y="0"/>
                  </a:lnTo>
                  <a:cubicBezTo>
                    <a:pt x="2651793" y="0"/>
                    <a:pt x="2669235" y="17442"/>
                    <a:pt x="2669235" y="38959"/>
                  </a:cubicBezTo>
                  <a:lnTo>
                    <a:pt x="2669235" y="1573999"/>
                  </a:lnTo>
                  <a:cubicBezTo>
                    <a:pt x="2669235" y="1584331"/>
                    <a:pt x="2665131" y="1594241"/>
                    <a:pt x="2657824" y="1601547"/>
                  </a:cubicBezTo>
                  <a:cubicBezTo>
                    <a:pt x="2650518" y="1608853"/>
                    <a:pt x="2640609" y="1612958"/>
                    <a:pt x="2630276" y="1612958"/>
                  </a:cubicBezTo>
                  <a:lnTo>
                    <a:pt x="38959" y="1612958"/>
                  </a:lnTo>
                  <a:cubicBezTo>
                    <a:pt x="28626" y="1612958"/>
                    <a:pt x="18717" y="1608853"/>
                    <a:pt x="11411" y="1601547"/>
                  </a:cubicBezTo>
                  <a:cubicBezTo>
                    <a:pt x="4105" y="1594241"/>
                    <a:pt x="0" y="1584331"/>
                    <a:pt x="0" y="1573999"/>
                  </a:cubicBezTo>
                  <a:lnTo>
                    <a:pt x="0" y="38959"/>
                  </a:lnTo>
                  <a:cubicBezTo>
                    <a:pt x="0" y="28626"/>
                    <a:pt x="4105" y="18717"/>
                    <a:pt x="11411" y="11411"/>
                  </a:cubicBezTo>
                  <a:cubicBezTo>
                    <a:pt x="18717" y="4105"/>
                    <a:pt x="28626" y="0"/>
                    <a:pt x="38959" y="0"/>
                  </a:cubicBezTo>
                  <a:close/>
                </a:path>
              </a:pathLst>
            </a:custGeom>
            <a:solidFill>
              <a:srgbClr val="21DEE8">
                <a:alpha val="12941"/>
              </a:srgbClr>
            </a:solidFill>
          </p:spPr>
        </p:sp>
        <p:sp>
          <p:nvSpPr>
            <p:cNvPr name="TextBox 10" id="10"/>
            <p:cNvSpPr txBox="true"/>
            <p:nvPr/>
          </p:nvSpPr>
          <p:spPr>
            <a:xfrm>
              <a:off x="0" y="-66675"/>
              <a:ext cx="2669235" cy="1679633"/>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1317438" y="3410482"/>
            <a:ext cx="10230085" cy="6124198"/>
            <a:chOff x="0" y="0"/>
            <a:chExt cx="2694343" cy="1612958"/>
          </a:xfrm>
        </p:grpSpPr>
        <p:sp>
          <p:nvSpPr>
            <p:cNvPr name="Freeform 12" id="12"/>
            <p:cNvSpPr/>
            <p:nvPr/>
          </p:nvSpPr>
          <p:spPr>
            <a:xfrm flipH="false" flipV="false" rot="0">
              <a:off x="0" y="0"/>
              <a:ext cx="2694343" cy="1612958"/>
            </a:xfrm>
            <a:custGeom>
              <a:avLst/>
              <a:gdLst/>
              <a:ahLst/>
              <a:cxnLst/>
              <a:rect r="r" b="b" t="t" l="l"/>
              <a:pathLst>
                <a:path h="1612958" w="2694343">
                  <a:moveTo>
                    <a:pt x="38596" y="0"/>
                  </a:moveTo>
                  <a:lnTo>
                    <a:pt x="2655748" y="0"/>
                  </a:lnTo>
                  <a:cubicBezTo>
                    <a:pt x="2665984" y="0"/>
                    <a:pt x="2675801" y="4066"/>
                    <a:pt x="2683039" y="11304"/>
                  </a:cubicBezTo>
                  <a:cubicBezTo>
                    <a:pt x="2690277" y="18543"/>
                    <a:pt x="2694343" y="28360"/>
                    <a:pt x="2694343" y="38596"/>
                  </a:cubicBezTo>
                  <a:lnTo>
                    <a:pt x="2694343" y="1574362"/>
                  </a:lnTo>
                  <a:cubicBezTo>
                    <a:pt x="2694343" y="1595678"/>
                    <a:pt x="2677063" y="1612958"/>
                    <a:pt x="2655748" y="1612958"/>
                  </a:cubicBezTo>
                  <a:lnTo>
                    <a:pt x="38596" y="1612958"/>
                  </a:lnTo>
                  <a:cubicBezTo>
                    <a:pt x="17280" y="1612958"/>
                    <a:pt x="0" y="1595678"/>
                    <a:pt x="0" y="1574362"/>
                  </a:cubicBezTo>
                  <a:lnTo>
                    <a:pt x="0" y="38596"/>
                  </a:lnTo>
                  <a:cubicBezTo>
                    <a:pt x="0" y="17280"/>
                    <a:pt x="17280" y="0"/>
                    <a:pt x="38596" y="0"/>
                  </a:cubicBezTo>
                  <a:close/>
                </a:path>
              </a:pathLst>
            </a:custGeom>
            <a:ln w="47625" cap="rnd">
              <a:gradFill>
                <a:gsLst>
                  <a:gs pos="0">
                    <a:srgbClr val="004AB8">
                      <a:alpha val="100000"/>
                    </a:srgbClr>
                  </a:gs>
                  <a:gs pos="100000">
                    <a:srgbClr val="00FFD1">
                      <a:alpha val="100000"/>
                    </a:srgbClr>
                  </a:gs>
                </a:gsLst>
                <a:path path="circle">
                  <a:fillToRect l="0" r="100000" t="0" b="100000"/>
                </a:path>
                <a:tileRect r="0" l="-100000" b="0" t="-100000"/>
              </a:gradFill>
              <a:prstDash val="solid"/>
              <a:round/>
            </a:ln>
          </p:spPr>
        </p:sp>
        <p:sp>
          <p:nvSpPr>
            <p:cNvPr name="TextBox 13" id="13"/>
            <p:cNvSpPr txBox="true"/>
            <p:nvPr/>
          </p:nvSpPr>
          <p:spPr>
            <a:xfrm>
              <a:off x="0" y="-66675"/>
              <a:ext cx="2694343" cy="1679633"/>
            </a:xfrm>
            <a:prstGeom prst="rect">
              <a:avLst/>
            </a:prstGeom>
          </p:spPr>
          <p:txBody>
            <a:bodyPr anchor="ctr" rtlCol="false" tIns="50800" lIns="50800" bIns="50800" rIns="50800"/>
            <a:lstStyle/>
            <a:p>
              <a:pPr algn="ctr">
                <a:lnSpc>
                  <a:spcPts val="2800"/>
                </a:lnSpc>
              </a:pPr>
            </a:p>
          </p:txBody>
        </p:sp>
      </p:grpSp>
      <p:grpSp>
        <p:nvGrpSpPr>
          <p:cNvPr name="Group 14" id="14"/>
          <p:cNvGrpSpPr/>
          <p:nvPr/>
        </p:nvGrpSpPr>
        <p:grpSpPr>
          <a:xfrm rot="0">
            <a:off x="11972021" y="841375"/>
            <a:ext cx="5851566" cy="8067675"/>
            <a:chOff x="0" y="0"/>
            <a:chExt cx="906561" cy="1249894"/>
          </a:xfrm>
        </p:grpSpPr>
        <p:sp>
          <p:nvSpPr>
            <p:cNvPr name="Freeform 15" id="15"/>
            <p:cNvSpPr/>
            <p:nvPr/>
          </p:nvSpPr>
          <p:spPr>
            <a:xfrm flipH="false" flipV="false" rot="0">
              <a:off x="0" y="0"/>
              <a:ext cx="906561" cy="1249894"/>
            </a:xfrm>
            <a:custGeom>
              <a:avLst/>
              <a:gdLst/>
              <a:ahLst/>
              <a:cxnLst/>
              <a:rect r="r" b="b" t="t" l="l"/>
              <a:pathLst>
                <a:path h="1249894" w="906561">
                  <a:moveTo>
                    <a:pt x="95260" y="0"/>
                  </a:moveTo>
                  <a:lnTo>
                    <a:pt x="811301" y="0"/>
                  </a:lnTo>
                  <a:cubicBezTo>
                    <a:pt x="836565" y="0"/>
                    <a:pt x="860795" y="10036"/>
                    <a:pt x="878660" y="27901"/>
                  </a:cubicBezTo>
                  <a:cubicBezTo>
                    <a:pt x="896524" y="45766"/>
                    <a:pt x="906561" y="69995"/>
                    <a:pt x="906561" y="95260"/>
                  </a:cubicBezTo>
                  <a:lnTo>
                    <a:pt x="906561" y="1154634"/>
                  </a:lnTo>
                  <a:cubicBezTo>
                    <a:pt x="906561" y="1179899"/>
                    <a:pt x="896524" y="1204128"/>
                    <a:pt x="878660" y="1221993"/>
                  </a:cubicBezTo>
                  <a:cubicBezTo>
                    <a:pt x="860795" y="1239858"/>
                    <a:pt x="836565" y="1249894"/>
                    <a:pt x="811301" y="1249894"/>
                  </a:cubicBezTo>
                  <a:lnTo>
                    <a:pt x="95260" y="1249894"/>
                  </a:lnTo>
                  <a:cubicBezTo>
                    <a:pt x="69995" y="1249894"/>
                    <a:pt x="45766" y="1239858"/>
                    <a:pt x="27901" y="1221993"/>
                  </a:cubicBezTo>
                  <a:cubicBezTo>
                    <a:pt x="10036" y="1204128"/>
                    <a:pt x="0" y="1179899"/>
                    <a:pt x="0" y="1154634"/>
                  </a:cubicBezTo>
                  <a:lnTo>
                    <a:pt x="0" y="95260"/>
                  </a:lnTo>
                  <a:cubicBezTo>
                    <a:pt x="0" y="69995"/>
                    <a:pt x="10036" y="45766"/>
                    <a:pt x="27901" y="27901"/>
                  </a:cubicBezTo>
                  <a:cubicBezTo>
                    <a:pt x="45766" y="10036"/>
                    <a:pt x="69995" y="0"/>
                    <a:pt x="95260" y="0"/>
                  </a:cubicBezTo>
                  <a:close/>
                </a:path>
              </a:pathLst>
            </a:custGeom>
            <a:blipFill>
              <a:blip r:embed="rId5"/>
              <a:stretch>
                <a:fillRect l="0" t="-771" r="0" b="-771"/>
              </a:stretch>
            </a:blipFill>
          </p:spPr>
        </p:sp>
      </p:grpSp>
      <p:sp>
        <p:nvSpPr>
          <p:cNvPr name="Freeform 16" id="16"/>
          <p:cNvSpPr/>
          <p:nvPr/>
        </p:nvSpPr>
        <p:spPr>
          <a:xfrm flipH="false" flipV="false" rot="-5400000">
            <a:off x="-1766719" y="7490872"/>
            <a:ext cx="3533438" cy="928827"/>
          </a:xfrm>
          <a:custGeom>
            <a:avLst/>
            <a:gdLst/>
            <a:ahLst/>
            <a:cxnLst/>
            <a:rect r="r" b="b" t="t" l="l"/>
            <a:pathLst>
              <a:path h="928827" w="3533438">
                <a:moveTo>
                  <a:pt x="0" y="0"/>
                </a:moveTo>
                <a:lnTo>
                  <a:pt x="3533438" y="0"/>
                </a:lnTo>
                <a:lnTo>
                  <a:pt x="3533438" y="928827"/>
                </a:lnTo>
                <a:lnTo>
                  <a:pt x="0" y="9288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5400000">
            <a:off x="16521281" y="3231318"/>
            <a:ext cx="3533438" cy="928827"/>
          </a:xfrm>
          <a:custGeom>
            <a:avLst/>
            <a:gdLst/>
            <a:ahLst/>
            <a:cxnLst/>
            <a:rect r="r" b="b" t="t" l="l"/>
            <a:pathLst>
              <a:path h="928827" w="3533438">
                <a:moveTo>
                  <a:pt x="0" y="0"/>
                </a:moveTo>
                <a:lnTo>
                  <a:pt x="3533438" y="0"/>
                </a:lnTo>
                <a:lnTo>
                  <a:pt x="3533438" y="928827"/>
                </a:lnTo>
                <a:lnTo>
                  <a:pt x="0" y="9288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8" id="18"/>
          <p:cNvSpPr txBox="true"/>
          <p:nvPr/>
        </p:nvSpPr>
        <p:spPr>
          <a:xfrm rot="0">
            <a:off x="15460296" y="9458480"/>
            <a:ext cx="4141972" cy="450849"/>
          </a:xfrm>
          <a:prstGeom prst="rect">
            <a:avLst/>
          </a:prstGeom>
        </p:spPr>
        <p:txBody>
          <a:bodyPr anchor="t" rtlCol="false" tIns="0" lIns="0" bIns="0" rIns="0">
            <a:spAutoFit/>
          </a:bodyPr>
          <a:lstStyle/>
          <a:p>
            <a:pPr algn="l">
              <a:lnSpc>
                <a:spcPts val="3500"/>
              </a:lnSpc>
            </a:pPr>
            <a:r>
              <a:rPr lang="en-US" sz="2500" b="true">
                <a:solidFill>
                  <a:srgbClr val="FFFFFF"/>
                </a:solidFill>
                <a:latin typeface="Poppins Bold"/>
                <a:ea typeface="Poppins Bold"/>
                <a:cs typeface="Poppins Bold"/>
                <a:sym typeface="Poppins Bold"/>
              </a:rPr>
              <a:t>KARAN SINGH</a:t>
            </a:r>
          </a:p>
        </p:txBody>
      </p:sp>
      <p:sp>
        <p:nvSpPr>
          <p:cNvPr name="TextBox 19" id="19"/>
          <p:cNvSpPr txBox="true"/>
          <p:nvPr/>
        </p:nvSpPr>
        <p:spPr>
          <a:xfrm rot="0">
            <a:off x="1139632" y="688975"/>
            <a:ext cx="8004368" cy="1416516"/>
          </a:xfrm>
          <a:prstGeom prst="rect">
            <a:avLst/>
          </a:prstGeom>
        </p:spPr>
        <p:txBody>
          <a:bodyPr anchor="t" rtlCol="false" tIns="0" lIns="0" bIns="0" rIns="0">
            <a:spAutoFit/>
          </a:bodyPr>
          <a:lstStyle/>
          <a:p>
            <a:pPr algn="l">
              <a:lnSpc>
                <a:spcPts val="11699"/>
              </a:lnSpc>
            </a:pPr>
            <a:r>
              <a:rPr lang="en-US" sz="8356" b="true">
                <a:solidFill>
                  <a:srgbClr val="00FFD1"/>
                </a:solidFill>
                <a:latin typeface="Canva Sans Bold"/>
                <a:ea typeface="Canva Sans Bold"/>
                <a:cs typeface="Canva Sans Bold"/>
                <a:sym typeface="Canva Sans Bold"/>
              </a:rPr>
              <a:t>Dataset</a:t>
            </a:r>
          </a:p>
        </p:txBody>
      </p:sp>
      <p:sp>
        <p:nvSpPr>
          <p:cNvPr name="TextBox 20" id="20"/>
          <p:cNvSpPr txBox="true"/>
          <p:nvPr/>
        </p:nvSpPr>
        <p:spPr>
          <a:xfrm rot="0">
            <a:off x="1269771" y="2361006"/>
            <a:ext cx="8054200" cy="886036"/>
          </a:xfrm>
          <a:prstGeom prst="rect">
            <a:avLst/>
          </a:prstGeom>
        </p:spPr>
        <p:txBody>
          <a:bodyPr anchor="t" rtlCol="false" tIns="0" lIns="0" bIns="0" rIns="0">
            <a:spAutoFit/>
          </a:bodyPr>
          <a:lstStyle/>
          <a:p>
            <a:pPr algn="l">
              <a:lnSpc>
                <a:spcPts val="7338"/>
              </a:lnSpc>
            </a:pPr>
            <a:r>
              <a:rPr lang="en-US" sz="5241" b="true">
                <a:solidFill>
                  <a:srgbClr val="FFFFFF"/>
                </a:solidFill>
                <a:latin typeface="Canva Sans Bold"/>
                <a:ea typeface="Canva Sans Bold"/>
                <a:cs typeface="Canva Sans Bold"/>
                <a:sym typeface="Canva Sans Bold"/>
              </a:rPr>
              <a:t>Dataset Explanation</a:t>
            </a:r>
          </a:p>
        </p:txBody>
      </p:sp>
      <p:sp>
        <p:nvSpPr>
          <p:cNvPr name="TextBox 21" id="21"/>
          <p:cNvSpPr txBox="true"/>
          <p:nvPr/>
        </p:nvSpPr>
        <p:spPr>
          <a:xfrm rot="0">
            <a:off x="1422764" y="4031171"/>
            <a:ext cx="9590907" cy="5194816"/>
          </a:xfrm>
          <a:prstGeom prst="rect">
            <a:avLst/>
          </a:prstGeom>
        </p:spPr>
        <p:txBody>
          <a:bodyPr anchor="t" rtlCol="false" tIns="0" lIns="0" bIns="0" rIns="0">
            <a:spAutoFit/>
          </a:bodyPr>
          <a:lstStyle/>
          <a:p>
            <a:pPr algn="just" marL="637500" indent="-318750" lvl="1">
              <a:lnSpc>
                <a:spcPts val="4547"/>
              </a:lnSpc>
              <a:buFont typeface="Arial"/>
              <a:buChar char="•"/>
            </a:pPr>
            <a:r>
              <a:rPr lang="en-US" sz="2952">
                <a:solidFill>
                  <a:srgbClr val="FFFFFF"/>
                </a:solidFill>
                <a:latin typeface="Poppins"/>
                <a:ea typeface="Poppins"/>
                <a:cs typeface="Poppins"/>
                <a:sym typeface="Poppins"/>
              </a:rPr>
              <a:t>The dataset contains employee experience and salary information.</a:t>
            </a:r>
          </a:p>
          <a:p>
            <a:pPr algn="just" marL="637500" indent="-318750" lvl="1">
              <a:lnSpc>
                <a:spcPts val="4547"/>
              </a:lnSpc>
              <a:buFont typeface="Arial"/>
              <a:buChar char="•"/>
            </a:pPr>
            <a:r>
              <a:rPr lang="en-US" sz="2952" u="none">
                <a:solidFill>
                  <a:srgbClr val="FFFFFF"/>
                </a:solidFill>
                <a:latin typeface="Poppins"/>
                <a:ea typeface="Poppins"/>
                <a:cs typeface="Poppins"/>
                <a:sym typeface="Poppins"/>
              </a:rPr>
              <a:t>YearsExperience: Number of years an employee has worked.</a:t>
            </a:r>
          </a:p>
          <a:p>
            <a:pPr algn="just" marL="637500" indent="-318750" lvl="1">
              <a:lnSpc>
                <a:spcPts val="4547"/>
              </a:lnSpc>
              <a:buFont typeface="Arial"/>
              <a:buChar char="•"/>
            </a:pPr>
            <a:r>
              <a:rPr lang="en-US" sz="2952" u="none">
                <a:solidFill>
                  <a:srgbClr val="FFFFFF"/>
                </a:solidFill>
                <a:latin typeface="Poppins"/>
                <a:ea typeface="Poppins"/>
                <a:cs typeface="Poppins"/>
                <a:sym typeface="Poppins"/>
              </a:rPr>
              <a:t>Salary: Annual salary received by the employee.</a:t>
            </a:r>
          </a:p>
          <a:p>
            <a:pPr algn="just" marL="659090" indent="-329545" lvl="1">
              <a:lnSpc>
                <a:spcPts val="4701"/>
              </a:lnSpc>
              <a:buFont typeface="Arial"/>
              <a:buChar char="•"/>
            </a:pPr>
            <a:r>
              <a:rPr lang="en-US" sz="3052" u="none">
                <a:solidFill>
                  <a:srgbClr val="FFFFFF"/>
                </a:solidFill>
                <a:latin typeface="Poppins"/>
                <a:ea typeface="Poppins"/>
                <a:cs typeface="Poppins"/>
                <a:sym typeface="Poppins"/>
              </a:rPr>
              <a:t>This data is used to train a regression model to predict salary based on experience.</a:t>
            </a:r>
          </a:p>
          <a:p>
            <a:pPr algn="just" marL="0" indent="0" lvl="0">
              <a:lnSpc>
                <a:spcPts val="4701"/>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44978" cy="812800"/>
          </a:xfrm>
        </p:grpSpPr>
        <p:sp>
          <p:nvSpPr>
            <p:cNvPr name="Freeform 3" id="3"/>
            <p:cNvSpPr/>
            <p:nvPr/>
          </p:nvSpPr>
          <p:spPr>
            <a:xfrm flipH="false" flipV="false" rot="0">
              <a:off x="0" y="0"/>
              <a:ext cx="1444978" cy="812800"/>
            </a:xfrm>
            <a:custGeom>
              <a:avLst/>
              <a:gdLst/>
              <a:ahLst/>
              <a:cxnLst/>
              <a:rect r="r" b="b" t="t" l="l"/>
              <a:pathLst>
                <a:path h="812800" w="1444978">
                  <a:moveTo>
                    <a:pt x="0" y="0"/>
                  </a:moveTo>
                  <a:lnTo>
                    <a:pt x="1444978" y="0"/>
                  </a:lnTo>
                  <a:lnTo>
                    <a:pt x="1444978" y="812800"/>
                  </a:lnTo>
                  <a:lnTo>
                    <a:pt x="0" y="812800"/>
                  </a:lnTo>
                  <a:close/>
                </a:path>
              </a:pathLst>
            </a:custGeom>
            <a:blipFill>
              <a:blip r:embed="rId2"/>
              <a:stretch>
                <a:fillRect l="-3317" t="0" r="-3317" b="0"/>
              </a:stretch>
            </a:blipFill>
          </p:spPr>
        </p:sp>
      </p:grpSp>
      <p:grpSp>
        <p:nvGrpSpPr>
          <p:cNvPr name="Group 4" id="4"/>
          <p:cNvGrpSpPr/>
          <p:nvPr/>
        </p:nvGrpSpPr>
        <p:grpSpPr>
          <a:xfrm rot="0">
            <a:off x="0" y="0"/>
            <a:ext cx="18288000" cy="10287000"/>
            <a:chOff x="0" y="0"/>
            <a:chExt cx="4816593" cy="2709333"/>
          </a:xfrm>
        </p:grpSpPr>
        <p:sp>
          <p:nvSpPr>
            <p:cNvPr name="Freeform 5" id="5"/>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11076D">
                    <a:alpha val="64000"/>
                  </a:srgbClr>
                </a:gs>
                <a:gs pos="100000">
                  <a:srgbClr val="144357">
                    <a:alpha val="64000"/>
                  </a:srgbClr>
                </a:gs>
              </a:gsLst>
              <a:path path="circle">
                <a:fillToRect l="0" r="100000" t="0" b="100000"/>
              </a:path>
              <a:tileRect r="0" l="-100000" b="0" t="-100000"/>
            </a:gradFill>
          </p:spPr>
        </p:sp>
        <p:sp>
          <p:nvSpPr>
            <p:cNvPr name="TextBox 6" id="6"/>
            <p:cNvSpPr txBox="true"/>
            <p:nvPr/>
          </p:nvSpPr>
          <p:spPr>
            <a:xfrm>
              <a:off x="0" y="-57150"/>
              <a:ext cx="4816593" cy="276648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4276150" y="9258300"/>
            <a:ext cx="672808" cy="672808"/>
          </a:xfrm>
          <a:custGeom>
            <a:avLst/>
            <a:gdLst/>
            <a:ahLst/>
            <a:cxnLst/>
            <a:rect r="r" b="b" t="t" l="l"/>
            <a:pathLst>
              <a:path h="672808" w="672808">
                <a:moveTo>
                  <a:pt x="0" y="0"/>
                </a:moveTo>
                <a:lnTo>
                  <a:pt x="672808" y="0"/>
                </a:lnTo>
                <a:lnTo>
                  <a:pt x="672808" y="672808"/>
                </a:lnTo>
                <a:lnTo>
                  <a:pt x="0" y="6728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4972096" y="5548326"/>
            <a:ext cx="11739153" cy="3461813"/>
            <a:chOff x="0" y="0"/>
            <a:chExt cx="3091793" cy="911753"/>
          </a:xfrm>
        </p:grpSpPr>
        <p:sp>
          <p:nvSpPr>
            <p:cNvPr name="Freeform 9" id="9"/>
            <p:cNvSpPr/>
            <p:nvPr/>
          </p:nvSpPr>
          <p:spPr>
            <a:xfrm flipH="false" flipV="false" rot="0">
              <a:off x="0" y="0"/>
              <a:ext cx="3091793" cy="911753"/>
            </a:xfrm>
            <a:custGeom>
              <a:avLst/>
              <a:gdLst/>
              <a:ahLst/>
              <a:cxnLst/>
              <a:rect r="r" b="b" t="t" l="l"/>
              <a:pathLst>
                <a:path h="911753" w="3091793">
                  <a:moveTo>
                    <a:pt x="33634" y="0"/>
                  </a:moveTo>
                  <a:lnTo>
                    <a:pt x="3058159" y="0"/>
                  </a:lnTo>
                  <a:cubicBezTo>
                    <a:pt x="3076735" y="0"/>
                    <a:pt x="3091793" y="15059"/>
                    <a:pt x="3091793" y="33634"/>
                  </a:cubicBezTo>
                  <a:lnTo>
                    <a:pt x="3091793" y="878119"/>
                  </a:lnTo>
                  <a:cubicBezTo>
                    <a:pt x="3091793" y="887039"/>
                    <a:pt x="3088250" y="895594"/>
                    <a:pt x="3081942" y="901902"/>
                  </a:cubicBezTo>
                  <a:cubicBezTo>
                    <a:pt x="3075635" y="908210"/>
                    <a:pt x="3067079" y="911753"/>
                    <a:pt x="3058159" y="911753"/>
                  </a:cubicBezTo>
                  <a:lnTo>
                    <a:pt x="33634" y="911753"/>
                  </a:lnTo>
                  <a:cubicBezTo>
                    <a:pt x="24714" y="911753"/>
                    <a:pt x="16159" y="908210"/>
                    <a:pt x="9851" y="901902"/>
                  </a:cubicBezTo>
                  <a:cubicBezTo>
                    <a:pt x="3544" y="895594"/>
                    <a:pt x="0" y="887039"/>
                    <a:pt x="0" y="878119"/>
                  </a:cubicBezTo>
                  <a:lnTo>
                    <a:pt x="0" y="33634"/>
                  </a:lnTo>
                  <a:cubicBezTo>
                    <a:pt x="0" y="24714"/>
                    <a:pt x="3544" y="16159"/>
                    <a:pt x="9851" y="9851"/>
                  </a:cubicBezTo>
                  <a:cubicBezTo>
                    <a:pt x="16159" y="3544"/>
                    <a:pt x="24714" y="0"/>
                    <a:pt x="33634" y="0"/>
                  </a:cubicBezTo>
                  <a:close/>
                </a:path>
              </a:pathLst>
            </a:custGeom>
            <a:solidFill>
              <a:srgbClr val="21DEE8">
                <a:alpha val="12941"/>
              </a:srgbClr>
            </a:solidFill>
          </p:spPr>
        </p:sp>
        <p:sp>
          <p:nvSpPr>
            <p:cNvPr name="TextBox 10" id="10"/>
            <p:cNvSpPr txBox="true"/>
            <p:nvPr/>
          </p:nvSpPr>
          <p:spPr>
            <a:xfrm>
              <a:off x="0" y="-66675"/>
              <a:ext cx="3091793" cy="978428"/>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4935768" y="5504269"/>
            <a:ext cx="11811810" cy="3505870"/>
            <a:chOff x="0" y="0"/>
            <a:chExt cx="3110929" cy="923357"/>
          </a:xfrm>
        </p:grpSpPr>
        <p:sp>
          <p:nvSpPr>
            <p:cNvPr name="Freeform 12" id="12"/>
            <p:cNvSpPr/>
            <p:nvPr/>
          </p:nvSpPr>
          <p:spPr>
            <a:xfrm flipH="false" flipV="false" rot="0">
              <a:off x="0" y="0"/>
              <a:ext cx="3110929" cy="923357"/>
            </a:xfrm>
            <a:custGeom>
              <a:avLst/>
              <a:gdLst/>
              <a:ahLst/>
              <a:cxnLst/>
              <a:rect r="r" b="b" t="t" l="l"/>
              <a:pathLst>
                <a:path h="923357" w="3110929">
                  <a:moveTo>
                    <a:pt x="33427" y="0"/>
                  </a:moveTo>
                  <a:lnTo>
                    <a:pt x="3077502" y="0"/>
                  </a:lnTo>
                  <a:cubicBezTo>
                    <a:pt x="3086367" y="0"/>
                    <a:pt x="3094870" y="3522"/>
                    <a:pt x="3101139" y="9791"/>
                  </a:cubicBezTo>
                  <a:cubicBezTo>
                    <a:pt x="3107407" y="16060"/>
                    <a:pt x="3110929" y="24562"/>
                    <a:pt x="3110929" y="33427"/>
                  </a:cubicBezTo>
                  <a:lnTo>
                    <a:pt x="3110929" y="889929"/>
                  </a:lnTo>
                  <a:cubicBezTo>
                    <a:pt x="3110929" y="908391"/>
                    <a:pt x="3095963" y="923357"/>
                    <a:pt x="3077502" y="923357"/>
                  </a:cubicBezTo>
                  <a:lnTo>
                    <a:pt x="33427" y="923357"/>
                  </a:lnTo>
                  <a:cubicBezTo>
                    <a:pt x="24562" y="923357"/>
                    <a:pt x="16060" y="919835"/>
                    <a:pt x="9791" y="913566"/>
                  </a:cubicBezTo>
                  <a:cubicBezTo>
                    <a:pt x="3522" y="907297"/>
                    <a:pt x="0" y="898795"/>
                    <a:pt x="0" y="889929"/>
                  </a:cubicBezTo>
                  <a:lnTo>
                    <a:pt x="0" y="33427"/>
                  </a:lnTo>
                  <a:cubicBezTo>
                    <a:pt x="0" y="24562"/>
                    <a:pt x="3522" y="16060"/>
                    <a:pt x="9791" y="9791"/>
                  </a:cubicBezTo>
                  <a:cubicBezTo>
                    <a:pt x="16060" y="3522"/>
                    <a:pt x="24562" y="0"/>
                    <a:pt x="33427" y="0"/>
                  </a:cubicBezTo>
                  <a:close/>
                </a:path>
              </a:pathLst>
            </a:custGeom>
            <a:ln w="47625" cap="rnd">
              <a:gradFill>
                <a:gsLst>
                  <a:gs pos="0">
                    <a:srgbClr val="004AB8">
                      <a:alpha val="100000"/>
                    </a:srgbClr>
                  </a:gs>
                  <a:gs pos="100000">
                    <a:srgbClr val="00FFD1">
                      <a:alpha val="100000"/>
                    </a:srgbClr>
                  </a:gs>
                </a:gsLst>
                <a:path path="circle">
                  <a:fillToRect l="0" r="100000" t="0" b="100000"/>
                </a:path>
                <a:tileRect r="0" l="-100000" b="0" t="-100000"/>
              </a:gradFill>
              <a:prstDash val="solid"/>
              <a:round/>
            </a:ln>
          </p:spPr>
        </p:sp>
        <p:sp>
          <p:nvSpPr>
            <p:cNvPr name="TextBox 13" id="13"/>
            <p:cNvSpPr txBox="true"/>
            <p:nvPr/>
          </p:nvSpPr>
          <p:spPr>
            <a:xfrm>
              <a:off x="0" y="-66675"/>
              <a:ext cx="3110929" cy="990032"/>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1143085" y="2238919"/>
            <a:ext cx="3271529" cy="3162781"/>
          </a:xfrm>
          <a:custGeom>
            <a:avLst/>
            <a:gdLst/>
            <a:ahLst/>
            <a:cxnLst/>
            <a:rect r="r" b="b" t="t" l="l"/>
            <a:pathLst>
              <a:path h="3162781" w="3271529">
                <a:moveTo>
                  <a:pt x="0" y="0"/>
                </a:moveTo>
                <a:lnTo>
                  <a:pt x="3271530" y="0"/>
                </a:lnTo>
                <a:lnTo>
                  <a:pt x="3271530" y="3162781"/>
                </a:lnTo>
                <a:lnTo>
                  <a:pt x="0" y="3162781"/>
                </a:lnTo>
                <a:lnTo>
                  <a:pt x="0" y="0"/>
                </a:lnTo>
                <a:close/>
              </a:path>
            </a:pathLst>
          </a:custGeom>
          <a:blipFill>
            <a:blip r:embed="rId5">
              <a:alphaModFix amt="54000"/>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4612554" y="6405262"/>
            <a:ext cx="2532361" cy="2448182"/>
          </a:xfrm>
          <a:custGeom>
            <a:avLst/>
            <a:gdLst/>
            <a:ahLst/>
            <a:cxnLst/>
            <a:rect r="r" b="b" t="t" l="l"/>
            <a:pathLst>
              <a:path h="2448182" w="2532361">
                <a:moveTo>
                  <a:pt x="0" y="0"/>
                </a:moveTo>
                <a:lnTo>
                  <a:pt x="2532361" y="0"/>
                </a:lnTo>
                <a:lnTo>
                  <a:pt x="2532361" y="2448182"/>
                </a:lnTo>
                <a:lnTo>
                  <a:pt x="0" y="2448182"/>
                </a:lnTo>
                <a:lnTo>
                  <a:pt x="0" y="0"/>
                </a:lnTo>
                <a:close/>
              </a:path>
            </a:pathLst>
          </a:custGeom>
          <a:blipFill>
            <a:blip r:embed="rId5">
              <a:alphaModFix amt="54000"/>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5462681" y="5817756"/>
            <a:ext cx="10757984" cy="2878897"/>
          </a:xfrm>
          <a:custGeom>
            <a:avLst/>
            <a:gdLst/>
            <a:ahLst/>
            <a:cxnLst/>
            <a:rect r="r" b="b" t="t" l="l"/>
            <a:pathLst>
              <a:path h="2878897" w="10757984">
                <a:moveTo>
                  <a:pt x="0" y="0"/>
                </a:moveTo>
                <a:lnTo>
                  <a:pt x="10757984" y="0"/>
                </a:lnTo>
                <a:lnTo>
                  <a:pt x="10757984" y="2878897"/>
                </a:lnTo>
                <a:lnTo>
                  <a:pt x="0" y="2878897"/>
                </a:lnTo>
                <a:lnTo>
                  <a:pt x="0" y="0"/>
                </a:lnTo>
                <a:close/>
              </a:path>
            </a:pathLst>
          </a:custGeom>
          <a:blipFill>
            <a:blip r:embed="rId7"/>
            <a:stretch>
              <a:fillRect l="0" t="0" r="0" b="0"/>
            </a:stretch>
          </a:blipFill>
        </p:spPr>
      </p:sp>
      <p:sp>
        <p:nvSpPr>
          <p:cNvPr name="Freeform 17" id="17"/>
          <p:cNvSpPr/>
          <p:nvPr/>
        </p:nvSpPr>
        <p:spPr>
          <a:xfrm flipH="false" flipV="false" rot="0">
            <a:off x="765957" y="6823650"/>
            <a:ext cx="3648658" cy="2434650"/>
          </a:xfrm>
          <a:custGeom>
            <a:avLst/>
            <a:gdLst/>
            <a:ahLst/>
            <a:cxnLst/>
            <a:rect r="r" b="b" t="t" l="l"/>
            <a:pathLst>
              <a:path h="2434650" w="3648658">
                <a:moveTo>
                  <a:pt x="0" y="0"/>
                </a:moveTo>
                <a:lnTo>
                  <a:pt x="3648658" y="0"/>
                </a:lnTo>
                <a:lnTo>
                  <a:pt x="3648658" y="2434650"/>
                </a:lnTo>
                <a:lnTo>
                  <a:pt x="0" y="2434650"/>
                </a:lnTo>
                <a:lnTo>
                  <a:pt x="0" y="0"/>
                </a:lnTo>
                <a:close/>
              </a:path>
            </a:pathLst>
          </a:custGeom>
          <a:blipFill>
            <a:blip r:embed="rId8"/>
            <a:stretch>
              <a:fillRect l="0" t="0" r="0" b="0"/>
            </a:stretch>
          </a:blipFill>
        </p:spPr>
      </p:sp>
      <p:sp>
        <p:nvSpPr>
          <p:cNvPr name="Freeform 18" id="18"/>
          <p:cNvSpPr/>
          <p:nvPr/>
        </p:nvSpPr>
        <p:spPr>
          <a:xfrm flipH="false" flipV="false" rot="0">
            <a:off x="9967729" y="2025195"/>
            <a:ext cx="2777642" cy="2777642"/>
          </a:xfrm>
          <a:custGeom>
            <a:avLst/>
            <a:gdLst/>
            <a:ahLst/>
            <a:cxnLst/>
            <a:rect r="r" b="b" t="t" l="l"/>
            <a:pathLst>
              <a:path h="2777642" w="2777642">
                <a:moveTo>
                  <a:pt x="0" y="0"/>
                </a:moveTo>
                <a:lnTo>
                  <a:pt x="2777642" y="0"/>
                </a:lnTo>
                <a:lnTo>
                  <a:pt x="2777642" y="2777641"/>
                </a:lnTo>
                <a:lnTo>
                  <a:pt x="0" y="2777641"/>
                </a:lnTo>
                <a:lnTo>
                  <a:pt x="0" y="0"/>
                </a:lnTo>
                <a:close/>
              </a:path>
            </a:pathLst>
          </a:custGeom>
          <a:blipFill>
            <a:blip r:embed="rId9"/>
            <a:stretch>
              <a:fillRect l="0" t="0" r="0" b="0"/>
            </a:stretch>
          </a:blipFill>
        </p:spPr>
      </p:sp>
      <p:sp>
        <p:nvSpPr>
          <p:cNvPr name="TextBox 19" id="19"/>
          <p:cNvSpPr txBox="true"/>
          <p:nvPr/>
        </p:nvSpPr>
        <p:spPr>
          <a:xfrm rot="0">
            <a:off x="15073929" y="9469573"/>
            <a:ext cx="4141972" cy="450849"/>
          </a:xfrm>
          <a:prstGeom prst="rect">
            <a:avLst/>
          </a:prstGeom>
        </p:spPr>
        <p:txBody>
          <a:bodyPr anchor="t" rtlCol="false" tIns="0" lIns="0" bIns="0" rIns="0">
            <a:spAutoFit/>
          </a:bodyPr>
          <a:lstStyle/>
          <a:p>
            <a:pPr algn="l">
              <a:lnSpc>
                <a:spcPts val="3500"/>
              </a:lnSpc>
            </a:pPr>
            <a:r>
              <a:rPr lang="en-US" sz="2500" b="true">
                <a:solidFill>
                  <a:srgbClr val="FFFFFF"/>
                </a:solidFill>
                <a:latin typeface="Poppins Bold"/>
                <a:ea typeface="Poppins Bold"/>
                <a:cs typeface="Poppins Bold"/>
                <a:sym typeface="Poppins Bold"/>
              </a:rPr>
              <a:t>KARAN SINGH</a:t>
            </a:r>
          </a:p>
        </p:txBody>
      </p:sp>
      <p:sp>
        <p:nvSpPr>
          <p:cNvPr name="TextBox 20" id="20"/>
          <p:cNvSpPr txBox="true"/>
          <p:nvPr/>
        </p:nvSpPr>
        <p:spPr>
          <a:xfrm rot="0">
            <a:off x="2306074" y="228893"/>
            <a:ext cx="12948225" cy="1457576"/>
          </a:xfrm>
          <a:prstGeom prst="rect">
            <a:avLst/>
          </a:prstGeom>
        </p:spPr>
        <p:txBody>
          <a:bodyPr anchor="t" rtlCol="false" tIns="0" lIns="0" bIns="0" rIns="0">
            <a:spAutoFit/>
          </a:bodyPr>
          <a:lstStyle/>
          <a:p>
            <a:pPr algn="ctr">
              <a:lnSpc>
                <a:spcPts val="12061"/>
              </a:lnSpc>
            </a:pPr>
            <a:r>
              <a:rPr lang="en-US" sz="8615" b="true">
                <a:solidFill>
                  <a:srgbClr val="00FFD1"/>
                </a:solidFill>
                <a:latin typeface="Canva Sans Bold"/>
                <a:ea typeface="Canva Sans Bold"/>
                <a:cs typeface="Canva Sans Bold"/>
                <a:sym typeface="Canva Sans Bold"/>
              </a:rPr>
              <a:t>Technologies Used</a:t>
            </a:r>
          </a:p>
        </p:txBody>
      </p:sp>
      <p:sp>
        <p:nvSpPr>
          <p:cNvPr name="TextBox 21" id="21"/>
          <p:cNvSpPr txBox="true"/>
          <p:nvPr/>
        </p:nvSpPr>
        <p:spPr>
          <a:xfrm rot="0">
            <a:off x="4935768" y="1948995"/>
            <a:ext cx="4993862" cy="3452705"/>
          </a:xfrm>
          <a:prstGeom prst="rect">
            <a:avLst/>
          </a:prstGeom>
        </p:spPr>
        <p:txBody>
          <a:bodyPr anchor="t" rtlCol="false" tIns="0" lIns="0" bIns="0" rIns="0">
            <a:spAutoFit/>
          </a:bodyPr>
          <a:lstStyle/>
          <a:p>
            <a:pPr algn="l" marL="851018" indent="-425509" lvl="1">
              <a:lnSpc>
                <a:spcPts val="5518"/>
              </a:lnSpc>
              <a:buFont typeface="Arial"/>
              <a:buChar char="•"/>
            </a:pPr>
            <a:r>
              <a:rPr lang="en-US" b="true" sz="3941">
                <a:solidFill>
                  <a:srgbClr val="FFFFFF"/>
                </a:solidFill>
                <a:latin typeface="Canva Sans Bold"/>
                <a:ea typeface="Canva Sans Bold"/>
                <a:cs typeface="Canva Sans Bold"/>
                <a:sym typeface="Canva Sans Bold"/>
              </a:rPr>
              <a:t>Python</a:t>
            </a:r>
          </a:p>
          <a:p>
            <a:pPr algn="l" marL="851018" indent="-425509" lvl="1">
              <a:lnSpc>
                <a:spcPts val="5518"/>
              </a:lnSpc>
              <a:buFont typeface="Arial"/>
              <a:buChar char="•"/>
            </a:pPr>
            <a:r>
              <a:rPr lang="en-US" b="true" sz="3941">
                <a:solidFill>
                  <a:srgbClr val="FFFFFF"/>
                </a:solidFill>
                <a:latin typeface="Canva Sans Bold"/>
                <a:ea typeface="Canva Sans Bold"/>
                <a:cs typeface="Canva Sans Bold"/>
                <a:sym typeface="Canva Sans Bold"/>
              </a:rPr>
              <a:t>Pandas</a:t>
            </a:r>
          </a:p>
          <a:p>
            <a:pPr algn="l" marL="851018" indent="-425509" lvl="1">
              <a:lnSpc>
                <a:spcPts val="5518"/>
              </a:lnSpc>
              <a:buFont typeface="Arial"/>
              <a:buChar char="•"/>
            </a:pPr>
            <a:r>
              <a:rPr lang="en-US" b="true" sz="3941">
                <a:solidFill>
                  <a:srgbClr val="FFFFFF"/>
                </a:solidFill>
                <a:latin typeface="Canva Sans Bold"/>
                <a:ea typeface="Canva Sans Bold"/>
                <a:cs typeface="Canva Sans Bold"/>
                <a:sym typeface="Canva Sans Bold"/>
              </a:rPr>
              <a:t>NumPy</a:t>
            </a:r>
          </a:p>
          <a:p>
            <a:pPr algn="l" marL="851018" indent="-425509" lvl="1">
              <a:lnSpc>
                <a:spcPts val="5518"/>
              </a:lnSpc>
              <a:buFont typeface="Arial"/>
              <a:buChar char="•"/>
            </a:pPr>
            <a:r>
              <a:rPr lang="en-US" b="true" sz="3941">
                <a:solidFill>
                  <a:srgbClr val="FFFFFF"/>
                </a:solidFill>
                <a:latin typeface="Canva Sans Bold"/>
                <a:ea typeface="Canva Sans Bold"/>
                <a:cs typeface="Canva Sans Bold"/>
                <a:sym typeface="Canva Sans Bold"/>
              </a:rPr>
              <a:t>Scikit-learn</a:t>
            </a:r>
          </a:p>
          <a:p>
            <a:pPr algn="l" marL="851018" indent="-425509" lvl="1">
              <a:lnSpc>
                <a:spcPts val="5518"/>
              </a:lnSpc>
              <a:buFont typeface="Arial"/>
              <a:buChar char="•"/>
            </a:pPr>
            <a:r>
              <a:rPr lang="en-US" b="true" sz="3941">
                <a:solidFill>
                  <a:srgbClr val="FFFFFF"/>
                </a:solidFill>
                <a:latin typeface="Canva Sans Bold"/>
                <a:ea typeface="Canva Sans Bold"/>
                <a:cs typeface="Canva Sans Bold"/>
                <a:sym typeface="Canva Sans Bold"/>
              </a:rPr>
              <a:t>Matplotlib</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44978" cy="812800"/>
          </a:xfrm>
        </p:grpSpPr>
        <p:sp>
          <p:nvSpPr>
            <p:cNvPr name="Freeform 3" id="3"/>
            <p:cNvSpPr/>
            <p:nvPr/>
          </p:nvSpPr>
          <p:spPr>
            <a:xfrm flipH="false" flipV="false" rot="0">
              <a:off x="0" y="0"/>
              <a:ext cx="1444978" cy="812800"/>
            </a:xfrm>
            <a:custGeom>
              <a:avLst/>
              <a:gdLst/>
              <a:ahLst/>
              <a:cxnLst/>
              <a:rect r="r" b="b" t="t" l="l"/>
              <a:pathLst>
                <a:path h="812800" w="1444978">
                  <a:moveTo>
                    <a:pt x="0" y="0"/>
                  </a:moveTo>
                  <a:lnTo>
                    <a:pt x="1444978" y="0"/>
                  </a:lnTo>
                  <a:lnTo>
                    <a:pt x="1444978" y="812800"/>
                  </a:lnTo>
                  <a:lnTo>
                    <a:pt x="0" y="812800"/>
                  </a:lnTo>
                  <a:close/>
                </a:path>
              </a:pathLst>
            </a:custGeom>
            <a:blipFill>
              <a:blip r:embed="rId2"/>
              <a:stretch>
                <a:fillRect l="-3317" t="0" r="-3317" b="0"/>
              </a:stretch>
            </a:blipFill>
          </p:spPr>
        </p:sp>
      </p:grpSp>
      <p:grpSp>
        <p:nvGrpSpPr>
          <p:cNvPr name="Group 4" id="4"/>
          <p:cNvGrpSpPr/>
          <p:nvPr/>
        </p:nvGrpSpPr>
        <p:grpSpPr>
          <a:xfrm rot="0">
            <a:off x="0" y="0"/>
            <a:ext cx="18288000" cy="10287000"/>
            <a:chOff x="0" y="0"/>
            <a:chExt cx="4816593" cy="2709333"/>
          </a:xfrm>
        </p:grpSpPr>
        <p:sp>
          <p:nvSpPr>
            <p:cNvPr name="Freeform 5" id="5"/>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11076D">
                    <a:alpha val="64000"/>
                  </a:srgbClr>
                </a:gs>
                <a:gs pos="100000">
                  <a:srgbClr val="144357">
                    <a:alpha val="64000"/>
                  </a:srgbClr>
                </a:gs>
              </a:gsLst>
              <a:path path="circle">
                <a:fillToRect l="0" r="100000" t="0" b="100000"/>
              </a:path>
              <a:tileRect r="0" l="-100000" b="0" t="-100000"/>
            </a:gradFill>
          </p:spPr>
        </p:sp>
        <p:sp>
          <p:nvSpPr>
            <p:cNvPr name="TextBox 6" id="6"/>
            <p:cNvSpPr txBox="true"/>
            <p:nvPr/>
          </p:nvSpPr>
          <p:spPr>
            <a:xfrm>
              <a:off x="0" y="-57150"/>
              <a:ext cx="4816593" cy="276648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4828938" y="206813"/>
            <a:ext cx="672808" cy="672808"/>
          </a:xfrm>
          <a:custGeom>
            <a:avLst/>
            <a:gdLst/>
            <a:ahLst/>
            <a:cxnLst/>
            <a:rect r="r" b="b" t="t" l="l"/>
            <a:pathLst>
              <a:path h="672808" w="672808">
                <a:moveTo>
                  <a:pt x="0" y="0"/>
                </a:moveTo>
                <a:lnTo>
                  <a:pt x="672808" y="0"/>
                </a:lnTo>
                <a:lnTo>
                  <a:pt x="672808" y="672808"/>
                </a:lnTo>
                <a:lnTo>
                  <a:pt x="0" y="6728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3120832" y="6101942"/>
            <a:ext cx="3598601" cy="3435028"/>
          </a:xfrm>
          <a:custGeom>
            <a:avLst/>
            <a:gdLst/>
            <a:ahLst/>
            <a:cxnLst/>
            <a:rect r="r" b="b" t="t" l="l"/>
            <a:pathLst>
              <a:path h="3435028" w="3598601">
                <a:moveTo>
                  <a:pt x="0" y="0"/>
                </a:moveTo>
                <a:lnTo>
                  <a:pt x="3598601" y="0"/>
                </a:lnTo>
                <a:lnTo>
                  <a:pt x="3598601" y="3435029"/>
                </a:lnTo>
                <a:lnTo>
                  <a:pt x="0" y="34350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true" flipV="false" rot="0">
            <a:off x="14329476" y="6205346"/>
            <a:ext cx="3598601" cy="3435028"/>
          </a:xfrm>
          <a:custGeom>
            <a:avLst/>
            <a:gdLst/>
            <a:ahLst/>
            <a:cxnLst/>
            <a:rect r="r" b="b" t="t" l="l"/>
            <a:pathLst>
              <a:path h="3435028" w="3598601">
                <a:moveTo>
                  <a:pt x="3598601" y="0"/>
                </a:moveTo>
                <a:lnTo>
                  <a:pt x="0" y="0"/>
                </a:lnTo>
                <a:lnTo>
                  <a:pt x="0" y="3435028"/>
                </a:lnTo>
                <a:lnTo>
                  <a:pt x="3598601" y="3435028"/>
                </a:lnTo>
                <a:lnTo>
                  <a:pt x="359860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365104" y="3427852"/>
            <a:ext cx="15438489" cy="5271980"/>
          </a:xfrm>
          <a:prstGeom prst="rect">
            <a:avLst/>
          </a:prstGeom>
        </p:spPr>
        <p:txBody>
          <a:bodyPr anchor="t" rtlCol="false" tIns="0" lIns="0" bIns="0" rIns="0">
            <a:spAutoFit/>
          </a:bodyPr>
          <a:lstStyle/>
          <a:p>
            <a:pPr algn="l">
              <a:lnSpc>
                <a:spcPts val="5518"/>
              </a:lnSpc>
            </a:pPr>
            <a:r>
              <a:rPr lang="en-US" sz="3941" b="true">
                <a:solidFill>
                  <a:srgbClr val="FFFFFF"/>
                </a:solidFill>
                <a:latin typeface="Canva Sans Bold"/>
                <a:ea typeface="Canva Sans Bold"/>
                <a:cs typeface="Canva Sans Bold"/>
                <a:sym typeface="Canva Sans Bold"/>
              </a:rPr>
              <a:t>Steps involved in the project : </a:t>
            </a:r>
          </a:p>
          <a:p>
            <a:pPr algn="l" marL="656713" indent="-328356" lvl="1">
              <a:lnSpc>
                <a:spcPts val="4258"/>
              </a:lnSpc>
              <a:buAutoNum type="arabicPeriod" startAt="1"/>
            </a:pPr>
            <a:r>
              <a:rPr lang="en-US" b="true" sz="3041">
                <a:solidFill>
                  <a:srgbClr val="FFFFFF"/>
                </a:solidFill>
                <a:latin typeface="Canva Sans Bold"/>
                <a:ea typeface="Canva Sans Bold"/>
                <a:cs typeface="Canva Sans Bold"/>
                <a:sym typeface="Canva Sans Bold"/>
              </a:rPr>
              <a:t> </a:t>
            </a:r>
            <a:r>
              <a:rPr lang="en-US" b="true" sz="3041">
                <a:solidFill>
                  <a:srgbClr val="FFFFFF"/>
                </a:solidFill>
                <a:latin typeface="Canva Sans Bold"/>
                <a:ea typeface="Canva Sans Bold"/>
                <a:cs typeface="Canva Sans Bold"/>
                <a:sym typeface="Canva Sans Bold"/>
              </a:rPr>
              <a:t>Data Collection</a:t>
            </a:r>
          </a:p>
          <a:p>
            <a:pPr algn="l">
              <a:lnSpc>
                <a:spcPts val="3418"/>
              </a:lnSpc>
            </a:pPr>
            <a:r>
              <a:rPr lang="en-US" sz="2441" b="true">
                <a:solidFill>
                  <a:srgbClr val="FFFFFF"/>
                </a:solidFill>
                <a:latin typeface="Canva Sans Bold"/>
                <a:ea typeface="Canva Sans Bold"/>
                <a:cs typeface="Canva Sans Bold"/>
                <a:sym typeface="Canva Sans Bold"/>
              </a:rPr>
              <a:t>         The </a:t>
            </a:r>
            <a:r>
              <a:rPr lang="en-US" sz="2441">
                <a:solidFill>
                  <a:srgbClr val="FFFFFF"/>
                </a:solidFill>
                <a:latin typeface="Canva Sans"/>
                <a:ea typeface="Canva Sans"/>
                <a:cs typeface="Canva Sans"/>
                <a:sym typeface="Canva Sans"/>
              </a:rPr>
              <a:t>salary </a:t>
            </a:r>
            <a:r>
              <a:rPr lang="en-US" sz="2441" b="true">
                <a:solidFill>
                  <a:srgbClr val="FFFFFF"/>
                </a:solidFill>
                <a:latin typeface="Canva Sans Bold"/>
                <a:ea typeface="Canva Sans Bold"/>
                <a:cs typeface="Canva Sans Bold"/>
                <a:sym typeface="Canva Sans Bold"/>
              </a:rPr>
              <a:t>dataset containing years of experience and salary values was collected.</a:t>
            </a:r>
          </a:p>
          <a:p>
            <a:pPr algn="l">
              <a:lnSpc>
                <a:spcPts val="3278"/>
              </a:lnSpc>
            </a:pPr>
          </a:p>
          <a:p>
            <a:pPr algn="l">
              <a:lnSpc>
                <a:spcPts val="4258"/>
              </a:lnSpc>
            </a:pPr>
            <a:r>
              <a:rPr lang="en-US" sz="3041" b="true">
                <a:solidFill>
                  <a:srgbClr val="FFFFFF"/>
                </a:solidFill>
                <a:latin typeface="Canva Sans Bold"/>
                <a:ea typeface="Canva Sans Bold"/>
                <a:cs typeface="Canva Sans Bold"/>
                <a:sym typeface="Canva Sans Bold"/>
              </a:rPr>
              <a:t>   2. Data Preprocessing   </a:t>
            </a:r>
          </a:p>
          <a:p>
            <a:pPr algn="l">
              <a:lnSpc>
                <a:spcPts val="3418"/>
              </a:lnSpc>
            </a:pPr>
            <a:r>
              <a:rPr lang="en-US" sz="2441">
                <a:solidFill>
                  <a:srgbClr val="FFFFFF"/>
                </a:solidFill>
                <a:latin typeface="Canva Sans"/>
                <a:ea typeface="Canva Sans"/>
                <a:cs typeface="Canva Sans"/>
                <a:sym typeface="Canva Sans"/>
              </a:rPr>
              <a:t>         The dataset was checked for missing values and prepared for analysis.</a:t>
            </a:r>
          </a:p>
          <a:p>
            <a:pPr algn="l">
              <a:lnSpc>
                <a:spcPts val="3418"/>
              </a:lnSpc>
            </a:pPr>
          </a:p>
          <a:p>
            <a:pPr algn="l">
              <a:lnSpc>
                <a:spcPts val="4258"/>
              </a:lnSpc>
            </a:pPr>
            <a:r>
              <a:rPr lang="en-US" sz="3041" b="true">
                <a:solidFill>
                  <a:srgbClr val="FFFFFF"/>
                </a:solidFill>
                <a:latin typeface="Canva Sans Bold"/>
                <a:ea typeface="Canva Sans Bold"/>
                <a:cs typeface="Canva Sans Bold"/>
                <a:sym typeface="Canva Sans Bold"/>
              </a:rPr>
              <a:t>   3. Train-Test Split</a:t>
            </a:r>
          </a:p>
          <a:p>
            <a:pPr algn="l">
              <a:lnSpc>
                <a:spcPts val="3418"/>
              </a:lnSpc>
            </a:pPr>
            <a:r>
              <a:rPr lang="en-US" sz="2441">
                <a:solidFill>
                  <a:srgbClr val="FFFFFF"/>
                </a:solidFill>
                <a:latin typeface="Canva Sans"/>
                <a:ea typeface="Canva Sans"/>
                <a:cs typeface="Canva Sans"/>
                <a:sym typeface="Canva Sans"/>
              </a:rPr>
              <a:t>          </a:t>
            </a:r>
            <a:r>
              <a:rPr lang="en-US" sz="2441">
                <a:solidFill>
                  <a:srgbClr val="FFFFFF"/>
                </a:solidFill>
                <a:latin typeface="Canva Sans"/>
                <a:ea typeface="Canva Sans"/>
                <a:cs typeface="Canva Sans"/>
                <a:sym typeface="Canva Sans"/>
              </a:rPr>
              <a:t>The dataset was divided into training and testing sets to evaluate the model performance.</a:t>
            </a:r>
          </a:p>
          <a:p>
            <a:pPr algn="l">
              <a:lnSpc>
                <a:spcPts val="3418"/>
              </a:lnSpc>
            </a:pPr>
          </a:p>
          <a:p>
            <a:pPr algn="l">
              <a:lnSpc>
                <a:spcPts val="3418"/>
              </a:lnSpc>
            </a:pPr>
          </a:p>
        </p:txBody>
      </p:sp>
      <p:sp>
        <p:nvSpPr>
          <p:cNvPr name="Freeform 11" id="11"/>
          <p:cNvSpPr/>
          <p:nvPr/>
        </p:nvSpPr>
        <p:spPr>
          <a:xfrm flipH="false" flipV="false" rot="0">
            <a:off x="3035589" y="8179528"/>
            <a:ext cx="9748758" cy="1717514"/>
          </a:xfrm>
          <a:custGeom>
            <a:avLst/>
            <a:gdLst/>
            <a:ahLst/>
            <a:cxnLst/>
            <a:rect r="r" b="b" t="t" l="l"/>
            <a:pathLst>
              <a:path h="1717514" w="9748758">
                <a:moveTo>
                  <a:pt x="0" y="0"/>
                </a:moveTo>
                <a:lnTo>
                  <a:pt x="9748759" y="0"/>
                </a:lnTo>
                <a:lnTo>
                  <a:pt x="9748759" y="1717515"/>
                </a:lnTo>
                <a:lnTo>
                  <a:pt x="0" y="1717515"/>
                </a:lnTo>
                <a:lnTo>
                  <a:pt x="0" y="0"/>
                </a:lnTo>
                <a:close/>
              </a:path>
            </a:pathLst>
          </a:custGeom>
          <a:blipFill>
            <a:blip r:embed="rId7"/>
            <a:stretch>
              <a:fillRect l="0" t="0" r="0" b="-16120"/>
            </a:stretch>
          </a:blipFill>
        </p:spPr>
      </p:sp>
      <p:sp>
        <p:nvSpPr>
          <p:cNvPr name="TextBox 12" id="12"/>
          <p:cNvSpPr txBox="true"/>
          <p:nvPr/>
        </p:nvSpPr>
        <p:spPr>
          <a:xfrm rot="0">
            <a:off x="15501746" y="279692"/>
            <a:ext cx="4141972" cy="450849"/>
          </a:xfrm>
          <a:prstGeom prst="rect">
            <a:avLst/>
          </a:prstGeom>
        </p:spPr>
        <p:txBody>
          <a:bodyPr anchor="t" rtlCol="false" tIns="0" lIns="0" bIns="0" rIns="0">
            <a:spAutoFit/>
          </a:bodyPr>
          <a:lstStyle/>
          <a:p>
            <a:pPr algn="l">
              <a:lnSpc>
                <a:spcPts val="3500"/>
              </a:lnSpc>
            </a:pPr>
            <a:r>
              <a:rPr lang="en-US" sz="2500" b="true">
                <a:solidFill>
                  <a:srgbClr val="FFFFFF"/>
                </a:solidFill>
                <a:latin typeface="Poppins Bold"/>
                <a:ea typeface="Poppins Bold"/>
                <a:cs typeface="Poppins Bold"/>
                <a:sym typeface="Poppins Bold"/>
              </a:rPr>
              <a:t>KARAN  SINGH</a:t>
            </a:r>
          </a:p>
        </p:txBody>
      </p:sp>
      <p:sp>
        <p:nvSpPr>
          <p:cNvPr name="TextBox 13" id="13"/>
          <p:cNvSpPr txBox="true"/>
          <p:nvPr/>
        </p:nvSpPr>
        <p:spPr>
          <a:xfrm rot="0">
            <a:off x="1365104" y="409867"/>
            <a:ext cx="6544865" cy="1183039"/>
          </a:xfrm>
          <a:prstGeom prst="rect">
            <a:avLst/>
          </a:prstGeom>
        </p:spPr>
        <p:txBody>
          <a:bodyPr anchor="t" rtlCol="false" tIns="0" lIns="0" bIns="0" rIns="0">
            <a:spAutoFit/>
          </a:bodyPr>
          <a:lstStyle/>
          <a:p>
            <a:pPr algn="l">
              <a:lnSpc>
                <a:spcPts val="9642"/>
              </a:lnSpc>
            </a:pPr>
            <a:r>
              <a:rPr lang="en-US" sz="6887" b="true">
                <a:solidFill>
                  <a:srgbClr val="00FFD1"/>
                </a:solidFill>
                <a:latin typeface="Canva Sans Bold"/>
                <a:ea typeface="Canva Sans Bold"/>
                <a:cs typeface="Canva Sans Bold"/>
                <a:sym typeface="Canva Sans Bold"/>
              </a:rPr>
              <a:t>Methodology</a:t>
            </a:r>
          </a:p>
        </p:txBody>
      </p:sp>
      <p:sp>
        <p:nvSpPr>
          <p:cNvPr name="TextBox 14" id="14"/>
          <p:cNvSpPr txBox="true"/>
          <p:nvPr/>
        </p:nvSpPr>
        <p:spPr>
          <a:xfrm rot="0">
            <a:off x="1365104" y="2065511"/>
            <a:ext cx="14763673" cy="1012190"/>
          </a:xfrm>
          <a:prstGeom prst="rect">
            <a:avLst/>
          </a:prstGeom>
        </p:spPr>
        <p:txBody>
          <a:bodyPr anchor="t" rtlCol="false" tIns="0" lIns="0" bIns="0" rIns="0">
            <a:spAutoFit/>
          </a:bodyPr>
          <a:lstStyle/>
          <a:p>
            <a:pPr algn="l">
              <a:lnSpc>
                <a:spcPts val="4060"/>
              </a:lnSpc>
            </a:pPr>
            <a:r>
              <a:rPr lang="en-US" sz="2900">
                <a:solidFill>
                  <a:srgbClr val="FFFFFF"/>
                </a:solidFill>
                <a:latin typeface="Canva Sans"/>
                <a:ea typeface="Canva Sans"/>
                <a:cs typeface="Canva Sans"/>
                <a:sym typeface="Canva Sans"/>
              </a:rPr>
              <a:t>The metho</a:t>
            </a:r>
            <a:r>
              <a:rPr lang="en-US" sz="2900">
                <a:solidFill>
                  <a:srgbClr val="FFFFFF"/>
                </a:solidFill>
                <a:latin typeface="Canva Sans"/>
                <a:ea typeface="Canva Sans"/>
                <a:cs typeface="Canva Sans"/>
                <a:sym typeface="Canva Sans"/>
              </a:rPr>
              <a:t>dology describes the process used to build the salary prediction model using machine learning.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44978" cy="812800"/>
          </a:xfrm>
        </p:grpSpPr>
        <p:sp>
          <p:nvSpPr>
            <p:cNvPr name="Freeform 3" id="3"/>
            <p:cNvSpPr/>
            <p:nvPr/>
          </p:nvSpPr>
          <p:spPr>
            <a:xfrm flipH="false" flipV="false" rot="0">
              <a:off x="0" y="0"/>
              <a:ext cx="1444978" cy="812800"/>
            </a:xfrm>
            <a:custGeom>
              <a:avLst/>
              <a:gdLst/>
              <a:ahLst/>
              <a:cxnLst/>
              <a:rect r="r" b="b" t="t" l="l"/>
              <a:pathLst>
                <a:path h="812800" w="1444978">
                  <a:moveTo>
                    <a:pt x="0" y="0"/>
                  </a:moveTo>
                  <a:lnTo>
                    <a:pt x="1444978" y="0"/>
                  </a:lnTo>
                  <a:lnTo>
                    <a:pt x="1444978" y="812800"/>
                  </a:lnTo>
                  <a:lnTo>
                    <a:pt x="0" y="812800"/>
                  </a:lnTo>
                  <a:close/>
                </a:path>
              </a:pathLst>
            </a:custGeom>
            <a:blipFill>
              <a:blip r:embed="rId2"/>
              <a:stretch>
                <a:fillRect l="-3317" t="0" r="-3317" b="0"/>
              </a:stretch>
            </a:blipFill>
          </p:spPr>
        </p:sp>
      </p:grpSp>
      <p:grpSp>
        <p:nvGrpSpPr>
          <p:cNvPr name="Group 4" id="4"/>
          <p:cNvGrpSpPr/>
          <p:nvPr/>
        </p:nvGrpSpPr>
        <p:grpSpPr>
          <a:xfrm rot="0">
            <a:off x="0" y="0"/>
            <a:ext cx="18288000" cy="10287000"/>
            <a:chOff x="0" y="0"/>
            <a:chExt cx="4816593" cy="2709333"/>
          </a:xfrm>
        </p:grpSpPr>
        <p:sp>
          <p:nvSpPr>
            <p:cNvPr name="Freeform 5" id="5"/>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11076D">
                    <a:alpha val="64000"/>
                  </a:srgbClr>
                </a:gs>
                <a:gs pos="100000">
                  <a:srgbClr val="144357">
                    <a:alpha val="64000"/>
                  </a:srgbClr>
                </a:gs>
              </a:gsLst>
              <a:path path="circle">
                <a:fillToRect l="0" r="100000" t="0" b="100000"/>
              </a:path>
              <a:tileRect r="0" l="-100000" b="0" t="-100000"/>
            </a:gradFill>
          </p:spPr>
        </p:sp>
        <p:sp>
          <p:nvSpPr>
            <p:cNvPr name="TextBox 6" id="6"/>
            <p:cNvSpPr txBox="true"/>
            <p:nvPr/>
          </p:nvSpPr>
          <p:spPr>
            <a:xfrm>
              <a:off x="0" y="-57150"/>
              <a:ext cx="4816593" cy="276648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4207191" y="9396755"/>
            <a:ext cx="672808" cy="672808"/>
          </a:xfrm>
          <a:custGeom>
            <a:avLst/>
            <a:gdLst/>
            <a:ahLst/>
            <a:cxnLst/>
            <a:rect r="r" b="b" t="t" l="l"/>
            <a:pathLst>
              <a:path h="672808" w="672808">
                <a:moveTo>
                  <a:pt x="0" y="0"/>
                </a:moveTo>
                <a:lnTo>
                  <a:pt x="672808" y="0"/>
                </a:lnTo>
                <a:lnTo>
                  <a:pt x="672808" y="672808"/>
                </a:lnTo>
                <a:lnTo>
                  <a:pt x="0" y="6728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196902" y="778539"/>
            <a:ext cx="15894196" cy="6189555"/>
          </a:xfrm>
          <a:prstGeom prst="rect">
            <a:avLst/>
          </a:prstGeom>
        </p:spPr>
        <p:txBody>
          <a:bodyPr anchor="t" rtlCol="false" tIns="0" lIns="0" bIns="0" rIns="0">
            <a:spAutoFit/>
          </a:bodyPr>
          <a:lstStyle/>
          <a:p>
            <a:pPr algn="l" marL="851018" indent="-425509" lvl="1">
              <a:lnSpc>
                <a:spcPts val="5518"/>
              </a:lnSpc>
              <a:buAutoNum type="arabicPeriod" startAt="1"/>
            </a:pPr>
            <a:r>
              <a:rPr lang="en-US" b="true" sz="3941">
                <a:solidFill>
                  <a:srgbClr val="FFFFFF"/>
                </a:solidFill>
                <a:latin typeface="Canva Sans Bold"/>
                <a:ea typeface="Canva Sans Bold"/>
                <a:cs typeface="Canva Sans Bold"/>
                <a:sym typeface="Canva Sans Bold"/>
              </a:rPr>
              <a:t>Model Training</a:t>
            </a:r>
          </a:p>
          <a:p>
            <a:pPr algn="l">
              <a:lnSpc>
                <a:spcPts val="4118"/>
              </a:lnSpc>
            </a:pPr>
            <a:r>
              <a:rPr lang="en-US" sz="2941" b="true">
                <a:solidFill>
                  <a:srgbClr val="FFFFFF"/>
                </a:solidFill>
                <a:latin typeface="Canva Sans Bold"/>
                <a:ea typeface="Canva Sans Bold"/>
                <a:cs typeface="Canva Sans Bold"/>
                <a:sym typeface="Canva Sans Bold"/>
              </a:rPr>
              <a:t>          </a:t>
            </a:r>
            <a:r>
              <a:rPr lang="en-US" sz="2941" b="true">
                <a:solidFill>
                  <a:srgbClr val="FFFFFF"/>
                </a:solidFill>
                <a:latin typeface="Canva Sans Bold"/>
                <a:ea typeface="Canva Sans Bold"/>
                <a:cs typeface="Canva Sans Bold"/>
                <a:sym typeface="Canva Sans Bold"/>
              </a:rPr>
              <a:t>A Linear Regression algorithm was used to train the model and learn the  </a:t>
            </a:r>
          </a:p>
          <a:p>
            <a:pPr algn="l">
              <a:lnSpc>
                <a:spcPts val="4118"/>
              </a:lnSpc>
            </a:pPr>
            <a:r>
              <a:rPr lang="en-US" sz="2941" b="true">
                <a:solidFill>
                  <a:srgbClr val="FFFFFF"/>
                </a:solidFill>
                <a:latin typeface="Canva Sans Bold"/>
                <a:ea typeface="Canva Sans Bold"/>
                <a:cs typeface="Canva Sans Bold"/>
                <a:sym typeface="Canva Sans Bold"/>
              </a:rPr>
              <a:t>          relati</a:t>
            </a:r>
            <a:r>
              <a:rPr lang="en-US" sz="2941" b="true">
                <a:solidFill>
                  <a:srgbClr val="FFFFFF"/>
                </a:solidFill>
                <a:latin typeface="Canva Sans Bold"/>
                <a:ea typeface="Canva Sans Bold"/>
                <a:cs typeface="Canva Sans Bold"/>
                <a:sym typeface="Canva Sans Bold"/>
              </a:rPr>
              <a:t>onship between experience and salary.</a:t>
            </a:r>
          </a:p>
          <a:p>
            <a:pPr algn="l">
              <a:lnSpc>
                <a:spcPts val="4118"/>
              </a:lnSpc>
            </a:pPr>
          </a:p>
          <a:p>
            <a:pPr algn="l">
              <a:lnSpc>
                <a:spcPts val="4118"/>
              </a:lnSpc>
            </a:pPr>
          </a:p>
          <a:p>
            <a:pPr algn="l">
              <a:lnSpc>
                <a:spcPts val="4118"/>
              </a:lnSpc>
            </a:pPr>
          </a:p>
          <a:p>
            <a:pPr algn="l">
              <a:lnSpc>
                <a:spcPts val="4118"/>
              </a:lnSpc>
            </a:pPr>
          </a:p>
          <a:p>
            <a:pPr algn="l">
              <a:lnSpc>
                <a:spcPts val="5518"/>
              </a:lnSpc>
            </a:pPr>
            <a:r>
              <a:rPr lang="en-US" sz="3941" b="true">
                <a:solidFill>
                  <a:srgbClr val="FFFFFF"/>
                </a:solidFill>
                <a:latin typeface="Canva Sans Bold"/>
                <a:ea typeface="Canva Sans Bold"/>
                <a:cs typeface="Canva Sans Bold"/>
                <a:sym typeface="Canva Sans Bold"/>
              </a:rPr>
              <a:t>    </a:t>
            </a:r>
          </a:p>
          <a:p>
            <a:pPr algn="l">
              <a:lnSpc>
                <a:spcPts val="5518"/>
              </a:lnSpc>
            </a:pPr>
            <a:r>
              <a:rPr lang="en-US" sz="3941" b="true">
                <a:solidFill>
                  <a:srgbClr val="FFFFFF"/>
                </a:solidFill>
                <a:latin typeface="Canva Sans Bold"/>
                <a:ea typeface="Canva Sans Bold"/>
                <a:cs typeface="Canva Sans Bold"/>
                <a:sym typeface="Canva Sans Bold"/>
              </a:rPr>
              <a:t>   </a:t>
            </a:r>
            <a:r>
              <a:rPr lang="en-US" sz="3941" b="true">
                <a:solidFill>
                  <a:srgbClr val="FFFFFF"/>
                </a:solidFill>
                <a:latin typeface="Canva Sans Bold"/>
                <a:ea typeface="Canva Sans Bold"/>
                <a:cs typeface="Canva Sans Bold"/>
                <a:sym typeface="Canva Sans Bold"/>
              </a:rPr>
              <a:t>5. Prediction and Evaluation</a:t>
            </a:r>
          </a:p>
          <a:p>
            <a:pPr algn="l">
              <a:lnSpc>
                <a:spcPts val="4118"/>
              </a:lnSpc>
            </a:pPr>
            <a:r>
              <a:rPr lang="en-US" sz="2941" b="true">
                <a:solidFill>
                  <a:srgbClr val="FFFFFF"/>
                </a:solidFill>
                <a:latin typeface="Canva Sans Bold"/>
                <a:ea typeface="Canva Sans Bold"/>
                <a:cs typeface="Canva Sans Bold"/>
                <a:sym typeface="Canva Sans Bold"/>
              </a:rPr>
              <a:t>          </a:t>
            </a:r>
            <a:r>
              <a:rPr lang="en-US" sz="2941" b="true">
                <a:solidFill>
                  <a:srgbClr val="FFFFFF"/>
                </a:solidFill>
                <a:latin typeface="Canva Sans Bold"/>
                <a:ea typeface="Canva Sans Bold"/>
                <a:cs typeface="Canva Sans Bold"/>
                <a:sym typeface="Canva Sans Bold"/>
              </a:rPr>
              <a:t> The trained model predicts salaries based on experience, and its accuracy is</a:t>
            </a:r>
          </a:p>
          <a:p>
            <a:pPr algn="l">
              <a:lnSpc>
                <a:spcPts val="4118"/>
              </a:lnSpc>
            </a:pPr>
            <a:r>
              <a:rPr lang="en-US" sz="2941" b="true">
                <a:solidFill>
                  <a:srgbClr val="FFFFFF"/>
                </a:solidFill>
                <a:latin typeface="Canva Sans Bold"/>
                <a:ea typeface="Canva Sans Bold"/>
                <a:cs typeface="Canva Sans Bold"/>
                <a:sym typeface="Canva Sans Bold"/>
              </a:rPr>
              <a:t>           evaluated using performance metrics.</a:t>
            </a:r>
          </a:p>
        </p:txBody>
      </p:sp>
      <p:sp>
        <p:nvSpPr>
          <p:cNvPr name="Freeform 9" id="9"/>
          <p:cNvSpPr/>
          <p:nvPr/>
        </p:nvSpPr>
        <p:spPr>
          <a:xfrm flipH="false" flipV="false" rot="0">
            <a:off x="2672512" y="3127853"/>
            <a:ext cx="8059136" cy="1567128"/>
          </a:xfrm>
          <a:custGeom>
            <a:avLst/>
            <a:gdLst/>
            <a:ahLst/>
            <a:cxnLst/>
            <a:rect r="r" b="b" t="t" l="l"/>
            <a:pathLst>
              <a:path h="1567128" w="8059136">
                <a:moveTo>
                  <a:pt x="0" y="0"/>
                </a:moveTo>
                <a:lnTo>
                  <a:pt x="8059136" y="0"/>
                </a:lnTo>
                <a:lnTo>
                  <a:pt x="8059136" y="1567127"/>
                </a:lnTo>
                <a:lnTo>
                  <a:pt x="0" y="1567127"/>
                </a:lnTo>
                <a:lnTo>
                  <a:pt x="0" y="0"/>
                </a:lnTo>
                <a:close/>
              </a:path>
            </a:pathLst>
          </a:custGeom>
          <a:blipFill>
            <a:blip r:embed="rId5"/>
            <a:stretch>
              <a:fillRect l="0" t="0" r="-781" b="-8035"/>
            </a:stretch>
          </a:blipFill>
        </p:spPr>
      </p:sp>
      <p:sp>
        <p:nvSpPr>
          <p:cNvPr name="Freeform 10" id="10"/>
          <p:cNvSpPr/>
          <p:nvPr/>
        </p:nvSpPr>
        <p:spPr>
          <a:xfrm flipH="false" flipV="false" rot="0">
            <a:off x="2258784" y="7717988"/>
            <a:ext cx="9681824" cy="1084364"/>
          </a:xfrm>
          <a:custGeom>
            <a:avLst/>
            <a:gdLst/>
            <a:ahLst/>
            <a:cxnLst/>
            <a:rect r="r" b="b" t="t" l="l"/>
            <a:pathLst>
              <a:path h="1084364" w="9681824">
                <a:moveTo>
                  <a:pt x="0" y="0"/>
                </a:moveTo>
                <a:lnTo>
                  <a:pt x="9681824" y="0"/>
                </a:lnTo>
                <a:lnTo>
                  <a:pt x="9681824" y="1084364"/>
                </a:lnTo>
                <a:lnTo>
                  <a:pt x="0" y="1084364"/>
                </a:lnTo>
                <a:lnTo>
                  <a:pt x="0" y="0"/>
                </a:lnTo>
                <a:close/>
              </a:path>
            </a:pathLst>
          </a:custGeom>
          <a:blipFill>
            <a:blip r:embed="rId6"/>
            <a:stretch>
              <a:fillRect l="0" t="0" r="0" b="0"/>
            </a:stretch>
          </a:blipFill>
        </p:spPr>
      </p:sp>
      <p:sp>
        <p:nvSpPr>
          <p:cNvPr name="TextBox 11" id="11"/>
          <p:cNvSpPr txBox="true"/>
          <p:nvPr/>
        </p:nvSpPr>
        <p:spPr>
          <a:xfrm rot="0">
            <a:off x="14879999" y="9469634"/>
            <a:ext cx="4141972" cy="450849"/>
          </a:xfrm>
          <a:prstGeom prst="rect">
            <a:avLst/>
          </a:prstGeom>
        </p:spPr>
        <p:txBody>
          <a:bodyPr anchor="t" rtlCol="false" tIns="0" lIns="0" bIns="0" rIns="0">
            <a:spAutoFit/>
          </a:bodyPr>
          <a:lstStyle/>
          <a:p>
            <a:pPr algn="l">
              <a:lnSpc>
                <a:spcPts val="3500"/>
              </a:lnSpc>
            </a:pPr>
            <a:r>
              <a:rPr lang="en-US" sz="2500" b="true">
                <a:solidFill>
                  <a:srgbClr val="FFFFFF"/>
                </a:solidFill>
                <a:latin typeface="Poppins Bold"/>
                <a:ea typeface="Poppins Bold"/>
                <a:cs typeface="Poppins Bold"/>
                <a:sym typeface="Poppins Bold"/>
              </a:rPr>
              <a:t>KARAN  SINGH</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44978" cy="812800"/>
          </a:xfrm>
        </p:grpSpPr>
        <p:sp>
          <p:nvSpPr>
            <p:cNvPr name="Freeform 3" id="3"/>
            <p:cNvSpPr/>
            <p:nvPr/>
          </p:nvSpPr>
          <p:spPr>
            <a:xfrm flipH="false" flipV="false" rot="0">
              <a:off x="0" y="0"/>
              <a:ext cx="1444978" cy="812800"/>
            </a:xfrm>
            <a:custGeom>
              <a:avLst/>
              <a:gdLst/>
              <a:ahLst/>
              <a:cxnLst/>
              <a:rect r="r" b="b" t="t" l="l"/>
              <a:pathLst>
                <a:path h="812800" w="1444978">
                  <a:moveTo>
                    <a:pt x="0" y="0"/>
                  </a:moveTo>
                  <a:lnTo>
                    <a:pt x="1444978" y="0"/>
                  </a:lnTo>
                  <a:lnTo>
                    <a:pt x="1444978" y="812800"/>
                  </a:lnTo>
                  <a:lnTo>
                    <a:pt x="0" y="812800"/>
                  </a:lnTo>
                  <a:close/>
                </a:path>
              </a:pathLst>
            </a:custGeom>
            <a:blipFill>
              <a:blip r:embed="rId2"/>
              <a:stretch>
                <a:fillRect l="-3317" t="0" r="-3317" b="0"/>
              </a:stretch>
            </a:blipFill>
          </p:spPr>
        </p:sp>
      </p:grpSp>
      <p:grpSp>
        <p:nvGrpSpPr>
          <p:cNvPr name="Group 4" id="4"/>
          <p:cNvGrpSpPr/>
          <p:nvPr/>
        </p:nvGrpSpPr>
        <p:grpSpPr>
          <a:xfrm rot="0">
            <a:off x="0" y="0"/>
            <a:ext cx="18288000" cy="10287000"/>
            <a:chOff x="0" y="0"/>
            <a:chExt cx="4816593" cy="2709333"/>
          </a:xfrm>
        </p:grpSpPr>
        <p:sp>
          <p:nvSpPr>
            <p:cNvPr name="Freeform 5" id="5"/>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11076D">
                    <a:alpha val="64000"/>
                  </a:srgbClr>
                </a:gs>
                <a:gs pos="100000">
                  <a:srgbClr val="144357">
                    <a:alpha val="64000"/>
                  </a:srgbClr>
                </a:gs>
              </a:gsLst>
              <a:path path="circle">
                <a:fillToRect l="0" r="100000" t="0" b="100000"/>
              </a:path>
              <a:tileRect r="0" l="-100000" b="0" t="-100000"/>
            </a:gradFill>
          </p:spPr>
        </p:sp>
        <p:sp>
          <p:nvSpPr>
            <p:cNvPr name="TextBox 6" id="6"/>
            <p:cNvSpPr txBox="true"/>
            <p:nvPr/>
          </p:nvSpPr>
          <p:spPr>
            <a:xfrm>
              <a:off x="0" y="-57150"/>
              <a:ext cx="4816593" cy="276648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4471391" y="9396755"/>
            <a:ext cx="672808" cy="672808"/>
          </a:xfrm>
          <a:custGeom>
            <a:avLst/>
            <a:gdLst/>
            <a:ahLst/>
            <a:cxnLst/>
            <a:rect r="r" b="b" t="t" l="l"/>
            <a:pathLst>
              <a:path h="672808" w="672808">
                <a:moveTo>
                  <a:pt x="0" y="0"/>
                </a:moveTo>
                <a:lnTo>
                  <a:pt x="672808" y="0"/>
                </a:lnTo>
                <a:lnTo>
                  <a:pt x="672808" y="672808"/>
                </a:lnTo>
                <a:lnTo>
                  <a:pt x="0" y="6728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692296" y="2163460"/>
            <a:ext cx="9823626" cy="5960081"/>
            <a:chOff x="0" y="0"/>
            <a:chExt cx="2587292" cy="1569733"/>
          </a:xfrm>
        </p:grpSpPr>
        <p:sp>
          <p:nvSpPr>
            <p:cNvPr name="Freeform 9" id="9"/>
            <p:cNvSpPr/>
            <p:nvPr/>
          </p:nvSpPr>
          <p:spPr>
            <a:xfrm flipH="false" flipV="false" rot="0">
              <a:off x="0" y="0"/>
              <a:ext cx="2587292" cy="1569733"/>
            </a:xfrm>
            <a:custGeom>
              <a:avLst/>
              <a:gdLst/>
              <a:ahLst/>
              <a:cxnLst/>
              <a:rect r="r" b="b" t="t" l="l"/>
              <a:pathLst>
                <a:path h="1569733" w="2587292">
                  <a:moveTo>
                    <a:pt x="40193" y="0"/>
                  </a:moveTo>
                  <a:lnTo>
                    <a:pt x="2547100" y="0"/>
                  </a:lnTo>
                  <a:cubicBezTo>
                    <a:pt x="2557760" y="0"/>
                    <a:pt x="2567983" y="4235"/>
                    <a:pt x="2575520" y="11772"/>
                  </a:cubicBezTo>
                  <a:cubicBezTo>
                    <a:pt x="2583058" y="19310"/>
                    <a:pt x="2587292" y="29533"/>
                    <a:pt x="2587292" y="40193"/>
                  </a:cubicBezTo>
                  <a:lnTo>
                    <a:pt x="2587292" y="1529540"/>
                  </a:lnTo>
                  <a:cubicBezTo>
                    <a:pt x="2587292" y="1551738"/>
                    <a:pt x="2569298" y="1569733"/>
                    <a:pt x="2547100" y="1569733"/>
                  </a:cubicBezTo>
                  <a:lnTo>
                    <a:pt x="40193" y="1569733"/>
                  </a:lnTo>
                  <a:cubicBezTo>
                    <a:pt x="29533" y="1569733"/>
                    <a:pt x="19310" y="1565499"/>
                    <a:pt x="11772" y="1557961"/>
                  </a:cubicBezTo>
                  <a:cubicBezTo>
                    <a:pt x="4235" y="1550423"/>
                    <a:pt x="0" y="1540200"/>
                    <a:pt x="0" y="1529540"/>
                  </a:cubicBezTo>
                  <a:lnTo>
                    <a:pt x="0" y="40193"/>
                  </a:lnTo>
                  <a:cubicBezTo>
                    <a:pt x="0" y="17995"/>
                    <a:pt x="17995" y="0"/>
                    <a:pt x="40193" y="0"/>
                  </a:cubicBezTo>
                  <a:close/>
                </a:path>
              </a:pathLst>
            </a:custGeom>
            <a:solidFill>
              <a:srgbClr val="21DEE8">
                <a:alpha val="12941"/>
              </a:srgbClr>
            </a:solidFill>
          </p:spPr>
        </p:sp>
        <p:sp>
          <p:nvSpPr>
            <p:cNvPr name="TextBox 10" id="10"/>
            <p:cNvSpPr txBox="true"/>
            <p:nvPr/>
          </p:nvSpPr>
          <p:spPr>
            <a:xfrm>
              <a:off x="0" y="-66675"/>
              <a:ext cx="2587292" cy="1636408"/>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92296" y="2163460"/>
            <a:ext cx="9823626" cy="5960081"/>
            <a:chOff x="0" y="0"/>
            <a:chExt cx="2587292" cy="1569733"/>
          </a:xfrm>
        </p:grpSpPr>
        <p:sp>
          <p:nvSpPr>
            <p:cNvPr name="Freeform 12" id="12"/>
            <p:cNvSpPr/>
            <p:nvPr/>
          </p:nvSpPr>
          <p:spPr>
            <a:xfrm flipH="false" flipV="false" rot="0">
              <a:off x="0" y="0"/>
              <a:ext cx="2587292" cy="1569733"/>
            </a:xfrm>
            <a:custGeom>
              <a:avLst/>
              <a:gdLst/>
              <a:ahLst/>
              <a:cxnLst/>
              <a:rect r="r" b="b" t="t" l="l"/>
              <a:pathLst>
                <a:path h="1569733" w="2587292">
                  <a:moveTo>
                    <a:pt x="40193" y="0"/>
                  </a:moveTo>
                  <a:lnTo>
                    <a:pt x="2547100" y="0"/>
                  </a:lnTo>
                  <a:cubicBezTo>
                    <a:pt x="2557760" y="0"/>
                    <a:pt x="2567983" y="4235"/>
                    <a:pt x="2575520" y="11772"/>
                  </a:cubicBezTo>
                  <a:cubicBezTo>
                    <a:pt x="2583058" y="19310"/>
                    <a:pt x="2587292" y="29533"/>
                    <a:pt x="2587292" y="40193"/>
                  </a:cubicBezTo>
                  <a:lnTo>
                    <a:pt x="2587292" y="1529540"/>
                  </a:lnTo>
                  <a:cubicBezTo>
                    <a:pt x="2587292" y="1551738"/>
                    <a:pt x="2569298" y="1569733"/>
                    <a:pt x="2547100" y="1569733"/>
                  </a:cubicBezTo>
                  <a:lnTo>
                    <a:pt x="40193" y="1569733"/>
                  </a:lnTo>
                  <a:cubicBezTo>
                    <a:pt x="29533" y="1569733"/>
                    <a:pt x="19310" y="1565499"/>
                    <a:pt x="11772" y="1557961"/>
                  </a:cubicBezTo>
                  <a:cubicBezTo>
                    <a:pt x="4235" y="1550423"/>
                    <a:pt x="0" y="1540200"/>
                    <a:pt x="0" y="1529540"/>
                  </a:cubicBezTo>
                  <a:lnTo>
                    <a:pt x="0" y="40193"/>
                  </a:lnTo>
                  <a:cubicBezTo>
                    <a:pt x="0" y="17995"/>
                    <a:pt x="17995" y="0"/>
                    <a:pt x="40193" y="0"/>
                  </a:cubicBezTo>
                  <a:close/>
                </a:path>
              </a:pathLst>
            </a:custGeom>
            <a:ln w="47625" cap="rnd">
              <a:gradFill>
                <a:gsLst>
                  <a:gs pos="0">
                    <a:srgbClr val="004AB8">
                      <a:alpha val="100000"/>
                    </a:srgbClr>
                  </a:gs>
                  <a:gs pos="100000">
                    <a:srgbClr val="00FFD1">
                      <a:alpha val="100000"/>
                    </a:srgbClr>
                  </a:gs>
                </a:gsLst>
                <a:path path="circle">
                  <a:fillToRect l="0" r="100000" t="0" b="100000"/>
                </a:path>
                <a:tileRect r="0" l="-100000" b="0" t="-100000"/>
              </a:gradFill>
              <a:prstDash val="solid"/>
              <a:round/>
            </a:ln>
          </p:spPr>
        </p:sp>
        <p:sp>
          <p:nvSpPr>
            <p:cNvPr name="TextBox 13" id="13"/>
            <p:cNvSpPr txBox="true"/>
            <p:nvPr/>
          </p:nvSpPr>
          <p:spPr>
            <a:xfrm>
              <a:off x="0" y="-66675"/>
              <a:ext cx="2587292" cy="1636408"/>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10949374" y="2773145"/>
            <a:ext cx="7044034" cy="5350396"/>
          </a:xfrm>
          <a:custGeom>
            <a:avLst/>
            <a:gdLst/>
            <a:ahLst/>
            <a:cxnLst/>
            <a:rect r="r" b="b" t="t" l="l"/>
            <a:pathLst>
              <a:path h="5350396" w="7044034">
                <a:moveTo>
                  <a:pt x="0" y="0"/>
                </a:moveTo>
                <a:lnTo>
                  <a:pt x="7044034" y="0"/>
                </a:lnTo>
                <a:lnTo>
                  <a:pt x="7044034" y="5350395"/>
                </a:lnTo>
                <a:lnTo>
                  <a:pt x="0" y="5350395"/>
                </a:lnTo>
                <a:lnTo>
                  <a:pt x="0" y="0"/>
                </a:lnTo>
                <a:close/>
              </a:path>
            </a:pathLst>
          </a:custGeom>
          <a:blipFill>
            <a:blip r:embed="rId5"/>
            <a:stretch>
              <a:fillRect l="-6011" t="-448" r="0" b="-448"/>
            </a:stretch>
          </a:blipFill>
        </p:spPr>
      </p:sp>
      <p:sp>
        <p:nvSpPr>
          <p:cNvPr name="TextBox 15" id="15"/>
          <p:cNvSpPr txBox="true"/>
          <p:nvPr/>
        </p:nvSpPr>
        <p:spPr>
          <a:xfrm rot="0">
            <a:off x="15188314" y="9469634"/>
            <a:ext cx="4141972" cy="450849"/>
          </a:xfrm>
          <a:prstGeom prst="rect">
            <a:avLst/>
          </a:prstGeom>
        </p:spPr>
        <p:txBody>
          <a:bodyPr anchor="t" rtlCol="false" tIns="0" lIns="0" bIns="0" rIns="0">
            <a:spAutoFit/>
          </a:bodyPr>
          <a:lstStyle/>
          <a:p>
            <a:pPr algn="l">
              <a:lnSpc>
                <a:spcPts val="3500"/>
              </a:lnSpc>
            </a:pPr>
            <a:r>
              <a:rPr lang="en-US" sz="2500" b="true">
                <a:solidFill>
                  <a:srgbClr val="FFFFFF"/>
                </a:solidFill>
                <a:latin typeface="Poppins Bold"/>
                <a:ea typeface="Poppins Bold"/>
                <a:cs typeface="Poppins Bold"/>
                <a:sym typeface="Poppins Bold"/>
              </a:rPr>
              <a:t>KARAN  SINGH</a:t>
            </a:r>
          </a:p>
        </p:txBody>
      </p:sp>
      <p:sp>
        <p:nvSpPr>
          <p:cNvPr name="TextBox 16" id="16"/>
          <p:cNvSpPr txBox="true"/>
          <p:nvPr/>
        </p:nvSpPr>
        <p:spPr>
          <a:xfrm rot="0">
            <a:off x="1167143" y="579885"/>
            <a:ext cx="9348779" cy="1346744"/>
          </a:xfrm>
          <a:prstGeom prst="rect">
            <a:avLst/>
          </a:prstGeom>
        </p:spPr>
        <p:txBody>
          <a:bodyPr anchor="t" rtlCol="false" tIns="0" lIns="0" bIns="0" rIns="0">
            <a:spAutoFit/>
          </a:bodyPr>
          <a:lstStyle/>
          <a:p>
            <a:pPr algn="l">
              <a:lnSpc>
                <a:spcPts val="10971"/>
              </a:lnSpc>
            </a:pPr>
            <a:r>
              <a:rPr lang="en-US" sz="7836" b="true">
                <a:solidFill>
                  <a:srgbClr val="00FFD1"/>
                </a:solidFill>
                <a:latin typeface="Canva Sans Bold"/>
                <a:ea typeface="Canva Sans Bold"/>
                <a:cs typeface="Canva Sans Bold"/>
                <a:sym typeface="Canva Sans Bold"/>
              </a:rPr>
              <a:t>Data Visualization</a:t>
            </a:r>
          </a:p>
        </p:txBody>
      </p:sp>
      <p:sp>
        <p:nvSpPr>
          <p:cNvPr name="TextBox 17" id="17"/>
          <p:cNvSpPr txBox="true"/>
          <p:nvPr/>
        </p:nvSpPr>
        <p:spPr>
          <a:xfrm rot="0">
            <a:off x="1167143" y="2301482"/>
            <a:ext cx="8347304" cy="5607835"/>
          </a:xfrm>
          <a:prstGeom prst="rect">
            <a:avLst/>
          </a:prstGeom>
        </p:spPr>
        <p:txBody>
          <a:bodyPr anchor="t" rtlCol="false" tIns="0" lIns="0" bIns="0" rIns="0">
            <a:spAutoFit/>
          </a:bodyPr>
          <a:lstStyle/>
          <a:p>
            <a:pPr algn="just" marL="819757" indent="-409878" lvl="1">
              <a:lnSpc>
                <a:spcPts val="4936"/>
              </a:lnSpc>
              <a:buFont typeface="Arial"/>
              <a:buChar char="•"/>
            </a:pPr>
            <a:r>
              <a:rPr lang="en-US" sz="3796" spc="-224">
                <a:solidFill>
                  <a:srgbClr val="FFFFFF"/>
                </a:solidFill>
                <a:latin typeface="Poppins"/>
                <a:ea typeface="Poppins"/>
                <a:cs typeface="Poppins"/>
                <a:sym typeface="Poppins"/>
              </a:rPr>
              <a:t>A scatter plot is used to visualize the relationship between experience and salary.</a:t>
            </a:r>
          </a:p>
          <a:p>
            <a:pPr algn="just" marL="819757" indent="-409878" lvl="1">
              <a:lnSpc>
                <a:spcPts val="4936"/>
              </a:lnSpc>
              <a:buFont typeface="Arial"/>
              <a:buChar char="•"/>
            </a:pPr>
            <a:r>
              <a:rPr lang="en-US" sz="3796" spc="-224" u="none">
                <a:solidFill>
                  <a:srgbClr val="FFFFFF"/>
                </a:solidFill>
                <a:latin typeface="Poppins"/>
                <a:ea typeface="Poppins"/>
                <a:cs typeface="Poppins"/>
                <a:sym typeface="Poppins"/>
              </a:rPr>
              <a:t>The graph shows that salary increases as experience increases.</a:t>
            </a:r>
          </a:p>
          <a:p>
            <a:pPr algn="just" marL="819757" indent="-409878" lvl="1">
              <a:lnSpc>
                <a:spcPts val="4936"/>
              </a:lnSpc>
              <a:buFont typeface="Arial"/>
              <a:buChar char="•"/>
            </a:pPr>
            <a:r>
              <a:rPr lang="en-US" sz="3796" spc="-224" u="none">
                <a:solidFill>
                  <a:srgbClr val="FFFFFF"/>
                </a:solidFill>
                <a:latin typeface="Poppins"/>
                <a:ea typeface="Poppins"/>
                <a:cs typeface="Poppins"/>
                <a:sym typeface="Poppins"/>
              </a:rPr>
              <a:t>This indicates a positive linear relationship between the variables.</a:t>
            </a:r>
          </a:p>
          <a:p>
            <a:pPr algn="just" marL="819757" indent="-409878" lvl="1">
              <a:lnSpc>
                <a:spcPts val="4936"/>
              </a:lnSpc>
              <a:buFont typeface="Arial"/>
              <a:buChar char="•"/>
            </a:pPr>
            <a:r>
              <a:rPr lang="en-US" sz="3796" spc="-224" u="none">
                <a:solidFill>
                  <a:srgbClr val="FFFFFF"/>
                </a:solidFill>
                <a:latin typeface="Poppins"/>
                <a:ea typeface="Poppins"/>
                <a:cs typeface="Poppins"/>
                <a:sym typeface="Poppins"/>
              </a:rPr>
              <a:t>Therefore, Linear Regression can be used for salary prediction.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44978" cy="812800"/>
          </a:xfrm>
        </p:grpSpPr>
        <p:sp>
          <p:nvSpPr>
            <p:cNvPr name="Freeform 3" id="3"/>
            <p:cNvSpPr/>
            <p:nvPr/>
          </p:nvSpPr>
          <p:spPr>
            <a:xfrm flipH="false" flipV="false" rot="0">
              <a:off x="0" y="0"/>
              <a:ext cx="1444978" cy="812800"/>
            </a:xfrm>
            <a:custGeom>
              <a:avLst/>
              <a:gdLst/>
              <a:ahLst/>
              <a:cxnLst/>
              <a:rect r="r" b="b" t="t" l="l"/>
              <a:pathLst>
                <a:path h="812800" w="1444978">
                  <a:moveTo>
                    <a:pt x="0" y="0"/>
                  </a:moveTo>
                  <a:lnTo>
                    <a:pt x="1444978" y="0"/>
                  </a:lnTo>
                  <a:lnTo>
                    <a:pt x="1444978" y="812800"/>
                  </a:lnTo>
                  <a:lnTo>
                    <a:pt x="0" y="812800"/>
                  </a:lnTo>
                  <a:close/>
                </a:path>
              </a:pathLst>
            </a:custGeom>
            <a:blipFill>
              <a:blip r:embed="rId2"/>
              <a:stretch>
                <a:fillRect l="-3317" t="0" r="-3317" b="0"/>
              </a:stretch>
            </a:blipFill>
          </p:spPr>
        </p:sp>
      </p:grpSp>
      <p:grpSp>
        <p:nvGrpSpPr>
          <p:cNvPr name="Group 4" id="4"/>
          <p:cNvGrpSpPr/>
          <p:nvPr/>
        </p:nvGrpSpPr>
        <p:grpSpPr>
          <a:xfrm rot="0">
            <a:off x="0" y="0"/>
            <a:ext cx="18288000" cy="10287000"/>
            <a:chOff x="0" y="0"/>
            <a:chExt cx="4816593" cy="2709333"/>
          </a:xfrm>
        </p:grpSpPr>
        <p:sp>
          <p:nvSpPr>
            <p:cNvPr name="Freeform 5" id="5"/>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11076D">
                    <a:alpha val="64000"/>
                  </a:srgbClr>
                </a:gs>
                <a:gs pos="100000">
                  <a:srgbClr val="144357">
                    <a:alpha val="64000"/>
                  </a:srgbClr>
                </a:gs>
              </a:gsLst>
              <a:path path="circle">
                <a:fillToRect l="0" r="100000" t="0" b="100000"/>
              </a:path>
              <a:tileRect r="0" l="-100000" b="0" t="-100000"/>
            </a:gradFill>
          </p:spPr>
        </p:sp>
        <p:sp>
          <p:nvSpPr>
            <p:cNvPr name="TextBox 6" id="6"/>
            <p:cNvSpPr txBox="true"/>
            <p:nvPr/>
          </p:nvSpPr>
          <p:spPr>
            <a:xfrm>
              <a:off x="0" y="-57150"/>
              <a:ext cx="4816593" cy="276648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692296" y="365125"/>
            <a:ext cx="672808" cy="672808"/>
          </a:xfrm>
          <a:custGeom>
            <a:avLst/>
            <a:gdLst/>
            <a:ahLst/>
            <a:cxnLst/>
            <a:rect r="r" b="b" t="t" l="l"/>
            <a:pathLst>
              <a:path h="672808" w="672808">
                <a:moveTo>
                  <a:pt x="0" y="0"/>
                </a:moveTo>
                <a:lnTo>
                  <a:pt x="672808" y="0"/>
                </a:lnTo>
                <a:lnTo>
                  <a:pt x="672808" y="672808"/>
                </a:lnTo>
                <a:lnTo>
                  <a:pt x="0" y="6728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692296" y="1842910"/>
            <a:ext cx="3231207" cy="3123798"/>
          </a:xfrm>
          <a:custGeom>
            <a:avLst/>
            <a:gdLst/>
            <a:ahLst/>
            <a:cxnLst/>
            <a:rect r="r" b="b" t="t" l="l"/>
            <a:pathLst>
              <a:path h="3123798" w="3231207">
                <a:moveTo>
                  <a:pt x="0" y="0"/>
                </a:moveTo>
                <a:lnTo>
                  <a:pt x="3231207" y="0"/>
                </a:lnTo>
                <a:lnTo>
                  <a:pt x="3231207" y="3123799"/>
                </a:lnTo>
                <a:lnTo>
                  <a:pt x="0" y="3123799"/>
                </a:lnTo>
                <a:lnTo>
                  <a:pt x="0" y="0"/>
                </a:lnTo>
                <a:close/>
              </a:path>
            </a:pathLst>
          </a:custGeom>
          <a:blipFill>
            <a:blip r:embed="rId5">
              <a:alphaModFix amt="54000"/>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2307899" y="2426415"/>
            <a:ext cx="12533440" cy="3480020"/>
            <a:chOff x="0" y="0"/>
            <a:chExt cx="3300988" cy="916549"/>
          </a:xfrm>
        </p:grpSpPr>
        <p:sp>
          <p:nvSpPr>
            <p:cNvPr name="Freeform 10" id="10"/>
            <p:cNvSpPr/>
            <p:nvPr/>
          </p:nvSpPr>
          <p:spPr>
            <a:xfrm flipH="false" flipV="false" rot="0">
              <a:off x="0" y="0"/>
              <a:ext cx="3300988" cy="916549"/>
            </a:xfrm>
            <a:custGeom>
              <a:avLst/>
              <a:gdLst/>
              <a:ahLst/>
              <a:cxnLst/>
              <a:rect r="r" b="b" t="t" l="l"/>
              <a:pathLst>
                <a:path h="916549" w="3300988">
                  <a:moveTo>
                    <a:pt x="31503" y="0"/>
                  </a:moveTo>
                  <a:lnTo>
                    <a:pt x="3269486" y="0"/>
                  </a:lnTo>
                  <a:cubicBezTo>
                    <a:pt x="3286884" y="0"/>
                    <a:pt x="3300988" y="14104"/>
                    <a:pt x="3300988" y="31503"/>
                  </a:cubicBezTo>
                  <a:lnTo>
                    <a:pt x="3300988" y="885046"/>
                  </a:lnTo>
                  <a:cubicBezTo>
                    <a:pt x="3300988" y="902444"/>
                    <a:pt x="3286884" y="916549"/>
                    <a:pt x="3269486" y="916549"/>
                  </a:cubicBezTo>
                  <a:lnTo>
                    <a:pt x="31503" y="916549"/>
                  </a:lnTo>
                  <a:cubicBezTo>
                    <a:pt x="14104" y="916549"/>
                    <a:pt x="0" y="902444"/>
                    <a:pt x="0" y="885046"/>
                  </a:cubicBezTo>
                  <a:lnTo>
                    <a:pt x="0" y="31503"/>
                  </a:lnTo>
                  <a:cubicBezTo>
                    <a:pt x="0" y="14104"/>
                    <a:pt x="14104" y="0"/>
                    <a:pt x="31503" y="0"/>
                  </a:cubicBezTo>
                  <a:close/>
                </a:path>
              </a:pathLst>
            </a:custGeom>
            <a:solidFill>
              <a:srgbClr val="21DEE8">
                <a:alpha val="12941"/>
              </a:srgbClr>
            </a:solidFill>
          </p:spPr>
        </p:sp>
        <p:sp>
          <p:nvSpPr>
            <p:cNvPr name="TextBox 11" id="11"/>
            <p:cNvSpPr txBox="true"/>
            <p:nvPr/>
          </p:nvSpPr>
          <p:spPr>
            <a:xfrm>
              <a:off x="0" y="-66675"/>
              <a:ext cx="3300988" cy="983224"/>
            </a:xfrm>
            <a:prstGeom prst="rect">
              <a:avLst/>
            </a:prstGeom>
          </p:spPr>
          <p:txBody>
            <a:bodyPr anchor="ctr" rtlCol="false" tIns="50800" lIns="50800" bIns="50800" rIns="50800"/>
            <a:lstStyle/>
            <a:p>
              <a:pPr algn="ctr">
                <a:lnSpc>
                  <a:spcPts val="2800"/>
                </a:lnSpc>
              </a:pPr>
            </a:p>
          </p:txBody>
        </p:sp>
      </p:grpSp>
      <p:grpSp>
        <p:nvGrpSpPr>
          <p:cNvPr name="Group 12" id="12"/>
          <p:cNvGrpSpPr/>
          <p:nvPr/>
        </p:nvGrpSpPr>
        <p:grpSpPr>
          <a:xfrm rot="0">
            <a:off x="2307899" y="2426415"/>
            <a:ext cx="12533440" cy="3480020"/>
            <a:chOff x="0" y="0"/>
            <a:chExt cx="3300988" cy="916549"/>
          </a:xfrm>
        </p:grpSpPr>
        <p:sp>
          <p:nvSpPr>
            <p:cNvPr name="Freeform 13" id="13"/>
            <p:cNvSpPr/>
            <p:nvPr/>
          </p:nvSpPr>
          <p:spPr>
            <a:xfrm flipH="false" flipV="false" rot="0">
              <a:off x="0" y="0"/>
              <a:ext cx="3300988" cy="916549"/>
            </a:xfrm>
            <a:custGeom>
              <a:avLst/>
              <a:gdLst/>
              <a:ahLst/>
              <a:cxnLst/>
              <a:rect r="r" b="b" t="t" l="l"/>
              <a:pathLst>
                <a:path h="916549" w="3300988">
                  <a:moveTo>
                    <a:pt x="31503" y="0"/>
                  </a:moveTo>
                  <a:lnTo>
                    <a:pt x="3269486" y="0"/>
                  </a:lnTo>
                  <a:cubicBezTo>
                    <a:pt x="3286884" y="0"/>
                    <a:pt x="3300988" y="14104"/>
                    <a:pt x="3300988" y="31503"/>
                  </a:cubicBezTo>
                  <a:lnTo>
                    <a:pt x="3300988" y="885046"/>
                  </a:lnTo>
                  <a:cubicBezTo>
                    <a:pt x="3300988" y="902444"/>
                    <a:pt x="3286884" y="916549"/>
                    <a:pt x="3269486" y="916549"/>
                  </a:cubicBezTo>
                  <a:lnTo>
                    <a:pt x="31503" y="916549"/>
                  </a:lnTo>
                  <a:cubicBezTo>
                    <a:pt x="14104" y="916549"/>
                    <a:pt x="0" y="902444"/>
                    <a:pt x="0" y="885046"/>
                  </a:cubicBezTo>
                  <a:lnTo>
                    <a:pt x="0" y="31503"/>
                  </a:lnTo>
                  <a:cubicBezTo>
                    <a:pt x="0" y="14104"/>
                    <a:pt x="14104" y="0"/>
                    <a:pt x="31503" y="0"/>
                  </a:cubicBezTo>
                  <a:close/>
                </a:path>
              </a:pathLst>
            </a:custGeom>
            <a:ln w="47625" cap="rnd">
              <a:gradFill>
                <a:gsLst>
                  <a:gs pos="0">
                    <a:srgbClr val="004AB8">
                      <a:alpha val="100000"/>
                    </a:srgbClr>
                  </a:gs>
                  <a:gs pos="100000">
                    <a:srgbClr val="00FFD1">
                      <a:alpha val="100000"/>
                    </a:srgbClr>
                  </a:gs>
                </a:gsLst>
                <a:path path="circle">
                  <a:fillToRect l="0" r="100000" t="0" b="100000"/>
                </a:path>
                <a:tileRect r="0" l="-100000" b="0" t="-100000"/>
              </a:gradFill>
              <a:prstDash val="solid"/>
              <a:round/>
            </a:ln>
          </p:spPr>
        </p:sp>
        <p:sp>
          <p:nvSpPr>
            <p:cNvPr name="TextBox 14" id="14"/>
            <p:cNvSpPr txBox="true"/>
            <p:nvPr/>
          </p:nvSpPr>
          <p:spPr>
            <a:xfrm>
              <a:off x="0" y="-66675"/>
              <a:ext cx="3300988" cy="983224"/>
            </a:xfrm>
            <a:prstGeom prst="rect">
              <a:avLst/>
            </a:prstGeom>
          </p:spPr>
          <p:txBody>
            <a:bodyPr anchor="ctr" rtlCol="false" tIns="50800" lIns="50800" bIns="50800" rIns="50800"/>
            <a:lstStyle/>
            <a:p>
              <a:pPr algn="ctr">
                <a:lnSpc>
                  <a:spcPts val="2800"/>
                </a:lnSpc>
              </a:pPr>
            </a:p>
          </p:txBody>
        </p:sp>
      </p:grpSp>
      <p:sp>
        <p:nvSpPr>
          <p:cNvPr name="Freeform 15" id="15"/>
          <p:cNvSpPr/>
          <p:nvPr/>
        </p:nvSpPr>
        <p:spPr>
          <a:xfrm flipH="false" flipV="false" rot="-5400000">
            <a:off x="16521281" y="7677431"/>
            <a:ext cx="3533438" cy="928827"/>
          </a:xfrm>
          <a:custGeom>
            <a:avLst/>
            <a:gdLst/>
            <a:ahLst/>
            <a:cxnLst/>
            <a:rect r="r" b="b" t="t" l="l"/>
            <a:pathLst>
              <a:path h="928827" w="3533438">
                <a:moveTo>
                  <a:pt x="0" y="0"/>
                </a:moveTo>
                <a:lnTo>
                  <a:pt x="3533438" y="0"/>
                </a:lnTo>
                <a:lnTo>
                  <a:pt x="3533438" y="928827"/>
                </a:lnTo>
                <a:lnTo>
                  <a:pt x="0" y="9288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6" id="16"/>
          <p:cNvSpPr txBox="true"/>
          <p:nvPr/>
        </p:nvSpPr>
        <p:spPr>
          <a:xfrm rot="0">
            <a:off x="2307899" y="2521665"/>
            <a:ext cx="12533440" cy="3769571"/>
          </a:xfrm>
          <a:prstGeom prst="rect">
            <a:avLst/>
          </a:prstGeom>
        </p:spPr>
        <p:txBody>
          <a:bodyPr anchor="t" rtlCol="false" tIns="0" lIns="0" bIns="0" rIns="0">
            <a:spAutoFit/>
          </a:bodyPr>
          <a:lstStyle/>
          <a:p>
            <a:pPr algn="l" marL="678302" indent="-339151" lvl="1">
              <a:lnSpc>
                <a:spcPts val="4398"/>
              </a:lnSpc>
              <a:buFont typeface="Arial"/>
              <a:buChar char="•"/>
            </a:pPr>
            <a:r>
              <a:rPr lang="en-US" sz="3141">
                <a:solidFill>
                  <a:srgbClr val="FFFFFF"/>
                </a:solidFill>
                <a:latin typeface="Canva Sans"/>
                <a:ea typeface="Canva Sans"/>
                <a:cs typeface="Canva Sans"/>
                <a:sym typeface="Canva Sans"/>
              </a:rPr>
              <a:t>Linear Regression is used to predict salary based on experience.</a:t>
            </a:r>
          </a:p>
          <a:p>
            <a:pPr algn="l" marL="678302" indent="-339151" lvl="1">
              <a:lnSpc>
                <a:spcPts val="4398"/>
              </a:lnSpc>
              <a:buFont typeface="Arial"/>
              <a:buChar char="•"/>
            </a:pPr>
            <a:r>
              <a:rPr lang="en-US" sz="3141">
                <a:solidFill>
                  <a:srgbClr val="FFFFFF"/>
                </a:solidFill>
                <a:latin typeface="Canva Sans"/>
                <a:ea typeface="Canva Sans"/>
                <a:cs typeface="Canva Sans"/>
                <a:sym typeface="Canva Sans"/>
              </a:rPr>
              <a:t>It finds the best-fit line between experience and salary.</a:t>
            </a:r>
          </a:p>
          <a:p>
            <a:pPr algn="l" marL="678302" indent="-339151" lvl="1">
              <a:lnSpc>
                <a:spcPts val="4398"/>
              </a:lnSpc>
              <a:buFont typeface="Arial"/>
              <a:buChar char="•"/>
            </a:pPr>
            <a:r>
              <a:rPr lang="en-US" sz="3141">
                <a:solidFill>
                  <a:srgbClr val="FFFFFF"/>
                </a:solidFill>
                <a:latin typeface="Canva Sans"/>
                <a:ea typeface="Canva Sans"/>
                <a:cs typeface="Canva Sans"/>
                <a:sym typeface="Canva Sans"/>
              </a:rPr>
              <a:t>The model learns from historical data and predicts salary for new inputs.</a:t>
            </a:r>
          </a:p>
          <a:p>
            <a:pPr algn="l">
              <a:lnSpc>
                <a:spcPts val="8458"/>
              </a:lnSpc>
            </a:pPr>
          </a:p>
        </p:txBody>
      </p:sp>
      <p:sp>
        <p:nvSpPr>
          <p:cNvPr name="Freeform 17" id="17"/>
          <p:cNvSpPr/>
          <p:nvPr/>
        </p:nvSpPr>
        <p:spPr>
          <a:xfrm flipH="false" flipV="false" rot="0">
            <a:off x="240497" y="6767486"/>
            <a:ext cx="10952172" cy="2177809"/>
          </a:xfrm>
          <a:custGeom>
            <a:avLst/>
            <a:gdLst/>
            <a:ahLst/>
            <a:cxnLst/>
            <a:rect r="r" b="b" t="t" l="l"/>
            <a:pathLst>
              <a:path h="2177809" w="10952172">
                <a:moveTo>
                  <a:pt x="0" y="0"/>
                </a:moveTo>
                <a:lnTo>
                  <a:pt x="10952173" y="0"/>
                </a:lnTo>
                <a:lnTo>
                  <a:pt x="10952173" y="2177809"/>
                </a:lnTo>
                <a:lnTo>
                  <a:pt x="0" y="2177809"/>
                </a:lnTo>
                <a:lnTo>
                  <a:pt x="0" y="0"/>
                </a:lnTo>
                <a:close/>
              </a:path>
            </a:pathLst>
          </a:custGeom>
          <a:blipFill>
            <a:blip r:embed="rId9"/>
            <a:stretch>
              <a:fillRect l="0" t="0" r="0" b="0"/>
            </a:stretch>
          </a:blipFill>
        </p:spPr>
      </p:sp>
      <p:sp>
        <p:nvSpPr>
          <p:cNvPr name="Freeform 18" id="18"/>
          <p:cNvSpPr/>
          <p:nvPr/>
        </p:nvSpPr>
        <p:spPr>
          <a:xfrm flipH="false" flipV="false" rot="0">
            <a:off x="11749794" y="6931086"/>
            <a:ext cx="6073793" cy="1850609"/>
          </a:xfrm>
          <a:custGeom>
            <a:avLst/>
            <a:gdLst/>
            <a:ahLst/>
            <a:cxnLst/>
            <a:rect r="r" b="b" t="t" l="l"/>
            <a:pathLst>
              <a:path h="1850609" w="6073793">
                <a:moveTo>
                  <a:pt x="0" y="0"/>
                </a:moveTo>
                <a:lnTo>
                  <a:pt x="6073793" y="0"/>
                </a:lnTo>
                <a:lnTo>
                  <a:pt x="6073793" y="1850609"/>
                </a:lnTo>
                <a:lnTo>
                  <a:pt x="0" y="1850609"/>
                </a:lnTo>
                <a:lnTo>
                  <a:pt x="0" y="0"/>
                </a:lnTo>
                <a:close/>
              </a:path>
            </a:pathLst>
          </a:custGeom>
          <a:blipFill>
            <a:blip r:embed="rId10"/>
            <a:stretch>
              <a:fillRect l="0" t="0" r="0" b="0"/>
            </a:stretch>
          </a:blipFill>
        </p:spPr>
      </p:sp>
      <p:sp>
        <p:nvSpPr>
          <p:cNvPr name="TextBox 19" id="19"/>
          <p:cNvSpPr txBox="true"/>
          <p:nvPr/>
        </p:nvSpPr>
        <p:spPr>
          <a:xfrm rot="0">
            <a:off x="1574611" y="438004"/>
            <a:ext cx="4141972" cy="450849"/>
          </a:xfrm>
          <a:prstGeom prst="rect">
            <a:avLst/>
          </a:prstGeom>
        </p:spPr>
        <p:txBody>
          <a:bodyPr anchor="t" rtlCol="false" tIns="0" lIns="0" bIns="0" rIns="0">
            <a:spAutoFit/>
          </a:bodyPr>
          <a:lstStyle/>
          <a:p>
            <a:pPr algn="l">
              <a:lnSpc>
                <a:spcPts val="3500"/>
              </a:lnSpc>
            </a:pPr>
            <a:r>
              <a:rPr lang="en-US" sz="2500" b="true">
                <a:solidFill>
                  <a:srgbClr val="FFFFFF"/>
                </a:solidFill>
                <a:latin typeface="Poppins Bold"/>
                <a:ea typeface="Poppins Bold"/>
                <a:cs typeface="Poppins Bold"/>
                <a:sym typeface="Poppins Bold"/>
              </a:rPr>
              <a:t>KARAN  SINGH</a:t>
            </a:r>
          </a:p>
        </p:txBody>
      </p:sp>
      <p:sp>
        <p:nvSpPr>
          <p:cNvPr name="TextBox 20" id="20"/>
          <p:cNvSpPr txBox="true"/>
          <p:nvPr/>
        </p:nvSpPr>
        <p:spPr>
          <a:xfrm rot="0">
            <a:off x="1710536" y="1231754"/>
            <a:ext cx="16113051" cy="1194661"/>
          </a:xfrm>
          <a:prstGeom prst="rect">
            <a:avLst/>
          </a:prstGeom>
        </p:spPr>
        <p:txBody>
          <a:bodyPr anchor="t" rtlCol="false" tIns="0" lIns="0" bIns="0" rIns="0">
            <a:spAutoFit/>
          </a:bodyPr>
          <a:lstStyle/>
          <a:p>
            <a:pPr algn="l">
              <a:lnSpc>
                <a:spcPts val="9752"/>
              </a:lnSpc>
            </a:pPr>
            <a:r>
              <a:rPr lang="en-US" sz="6966" b="true">
                <a:solidFill>
                  <a:srgbClr val="00FFD1"/>
                </a:solidFill>
                <a:latin typeface="Canva Sans Bold"/>
                <a:ea typeface="Canva Sans Bold"/>
                <a:cs typeface="Canva Sans Bold"/>
                <a:sym typeface="Canva Sans Bold"/>
              </a:rPr>
              <a:t>Model Used: Linear Regression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44978" cy="812800"/>
          </a:xfrm>
        </p:grpSpPr>
        <p:sp>
          <p:nvSpPr>
            <p:cNvPr name="Freeform 3" id="3"/>
            <p:cNvSpPr/>
            <p:nvPr/>
          </p:nvSpPr>
          <p:spPr>
            <a:xfrm flipH="false" flipV="false" rot="0">
              <a:off x="0" y="0"/>
              <a:ext cx="1444978" cy="812800"/>
            </a:xfrm>
            <a:custGeom>
              <a:avLst/>
              <a:gdLst/>
              <a:ahLst/>
              <a:cxnLst/>
              <a:rect r="r" b="b" t="t" l="l"/>
              <a:pathLst>
                <a:path h="812800" w="1444978">
                  <a:moveTo>
                    <a:pt x="0" y="0"/>
                  </a:moveTo>
                  <a:lnTo>
                    <a:pt x="1444978" y="0"/>
                  </a:lnTo>
                  <a:lnTo>
                    <a:pt x="1444978" y="812800"/>
                  </a:lnTo>
                  <a:lnTo>
                    <a:pt x="0" y="812800"/>
                  </a:lnTo>
                  <a:close/>
                </a:path>
              </a:pathLst>
            </a:custGeom>
            <a:blipFill>
              <a:blip r:embed="rId2"/>
              <a:stretch>
                <a:fillRect l="-3317" t="0" r="-3317" b="0"/>
              </a:stretch>
            </a:blipFill>
          </p:spPr>
        </p:sp>
      </p:grpSp>
      <p:grpSp>
        <p:nvGrpSpPr>
          <p:cNvPr name="Group 4" id="4"/>
          <p:cNvGrpSpPr/>
          <p:nvPr/>
        </p:nvGrpSpPr>
        <p:grpSpPr>
          <a:xfrm rot="0">
            <a:off x="0" y="0"/>
            <a:ext cx="18288000" cy="10287000"/>
            <a:chOff x="0" y="0"/>
            <a:chExt cx="4816593" cy="2709333"/>
          </a:xfrm>
        </p:grpSpPr>
        <p:sp>
          <p:nvSpPr>
            <p:cNvPr name="Freeform 5" id="5"/>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11076D">
                    <a:alpha val="64000"/>
                  </a:srgbClr>
                </a:gs>
                <a:gs pos="100000">
                  <a:srgbClr val="144357">
                    <a:alpha val="64000"/>
                  </a:srgbClr>
                </a:gs>
              </a:gsLst>
              <a:path path="circle">
                <a:fillToRect l="0" r="100000" t="0" b="100000"/>
              </a:path>
              <a:tileRect r="0" l="-100000" b="0" t="-100000"/>
            </a:gradFill>
          </p:spPr>
        </p:sp>
        <p:sp>
          <p:nvSpPr>
            <p:cNvPr name="TextBox 6" id="6"/>
            <p:cNvSpPr txBox="true"/>
            <p:nvPr/>
          </p:nvSpPr>
          <p:spPr>
            <a:xfrm>
              <a:off x="0" y="-57150"/>
              <a:ext cx="4816593" cy="276648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4495909" y="9402590"/>
            <a:ext cx="672808" cy="672808"/>
          </a:xfrm>
          <a:custGeom>
            <a:avLst/>
            <a:gdLst/>
            <a:ahLst/>
            <a:cxnLst/>
            <a:rect r="r" b="b" t="t" l="l"/>
            <a:pathLst>
              <a:path h="672808" w="672808">
                <a:moveTo>
                  <a:pt x="0" y="0"/>
                </a:moveTo>
                <a:lnTo>
                  <a:pt x="672808" y="0"/>
                </a:lnTo>
                <a:lnTo>
                  <a:pt x="672808" y="672808"/>
                </a:lnTo>
                <a:lnTo>
                  <a:pt x="0" y="6728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3058067" y="232792"/>
            <a:ext cx="3431601" cy="2264623"/>
            <a:chOff x="0" y="0"/>
            <a:chExt cx="779047" cy="514118"/>
          </a:xfrm>
        </p:grpSpPr>
        <p:sp>
          <p:nvSpPr>
            <p:cNvPr name="Freeform 9" id="9"/>
            <p:cNvSpPr/>
            <p:nvPr/>
          </p:nvSpPr>
          <p:spPr>
            <a:xfrm flipH="false" flipV="false" rot="0">
              <a:off x="0" y="0"/>
              <a:ext cx="779047" cy="514118"/>
            </a:xfrm>
            <a:custGeom>
              <a:avLst/>
              <a:gdLst/>
              <a:ahLst/>
              <a:cxnLst/>
              <a:rect r="r" b="b" t="t" l="l"/>
              <a:pathLst>
                <a:path h="514118" w="779047">
                  <a:moveTo>
                    <a:pt x="162437" y="0"/>
                  </a:moveTo>
                  <a:lnTo>
                    <a:pt x="616610" y="0"/>
                  </a:lnTo>
                  <a:cubicBezTo>
                    <a:pt x="706321" y="0"/>
                    <a:pt x="779047" y="72725"/>
                    <a:pt x="779047" y="162437"/>
                  </a:cubicBezTo>
                  <a:lnTo>
                    <a:pt x="779047" y="351681"/>
                  </a:lnTo>
                  <a:cubicBezTo>
                    <a:pt x="779047" y="394762"/>
                    <a:pt x="761933" y="436078"/>
                    <a:pt x="731470" y="466541"/>
                  </a:cubicBezTo>
                  <a:cubicBezTo>
                    <a:pt x="701007" y="497004"/>
                    <a:pt x="659691" y="514118"/>
                    <a:pt x="616610" y="514118"/>
                  </a:cubicBezTo>
                  <a:lnTo>
                    <a:pt x="162437" y="514118"/>
                  </a:lnTo>
                  <a:cubicBezTo>
                    <a:pt x="119356" y="514118"/>
                    <a:pt x="78039" y="497004"/>
                    <a:pt x="47577" y="466541"/>
                  </a:cubicBezTo>
                  <a:cubicBezTo>
                    <a:pt x="17114" y="436078"/>
                    <a:pt x="0" y="394762"/>
                    <a:pt x="0" y="351681"/>
                  </a:cubicBezTo>
                  <a:lnTo>
                    <a:pt x="0" y="162437"/>
                  </a:lnTo>
                  <a:cubicBezTo>
                    <a:pt x="0" y="119356"/>
                    <a:pt x="17114" y="78039"/>
                    <a:pt x="47577" y="47577"/>
                  </a:cubicBezTo>
                  <a:cubicBezTo>
                    <a:pt x="78039" y="17114"/>
                    <a:pt x="119356" y="0"/>
                    <a:pt x="162437" y="0"/>
                  </a:cubicBezTo>
                  <a:close/>
                </a:path>
              </a:pathLst>
            </a:custGeom>
            <a:blipFill>
              <a:blip r:embed="rId5"/>
              <a:stretch>
                <a:fillRect l="0" t="-510" r="0" b="-510"/>
              </a:stretch>
            </a:blipFill>
          </p:spPr>
        </p:sp>
      </p:grpSp>
      <p:sp>
        <p:nvSpPr>
          <p:cNvPr name="Freeform 10" id="10"/>
          <p:cNvSpPr/>
          <p:nvPr/>
        </p:nvSpPr>
        <p:spPr>
          <a:xfrm flipH="true" flipV="true" rot="0">
            <a:off x="16013463" y="2272916"/>
            <a:ext cx="5244214" cy="1378534"/>
          </a:xfrm>
          <a:custGeom>
            <a:avLst/>
            <a:gdLst/>
            <a:ahLst/>
            <a:cxnLst/>
            <a:rect r="r" b="b" t="t" l="l"/>
            <a:pathLst>
              <a:path h="1378534" w="5244214">
                <a:moveTo>
                  <a:pt x="5244213" y="1378534"/>
                </a:moveTo>
                <a:lnTo>
                  <a:pt x="0" y="1378534"/>
                </a:lnTo>
                <a:lnTo>
                  <a:pt x="0" y="0"/>
                </a:lnTo>
                <a:lnTo>
                  <a:pt x="5244213" y="0"/>
                </a:lnTo>
                <a:lnTo>
                  <a:pt x="5244213" y="137853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2906305" y="6450657"/>
            <a:ext cx="3598601" cy="3435028"/>
          </a:xfrm>
          <a:custGeom>
            <a:avLst/>
            <a:gdLst/>
            <a:ahLst/>
            <a:cxnLst/>
            <a:rect r="r" b="b" t="t" l="l"/>
            <a:pathLst>
              <a:path h="3435028" w="3598601">
                <a:moveTo>
                  <a:pt x="0" y="0"/>
                </a:moveTo>
                <a:lnTo>
                  <a:pt x="3598601" y="0"/>
                </a:lnTo>
                <a:lnTo>
                  <a:pt x="3598601" y="3435028"/>
                </a:lnTo>
                <a:lnTo>
                  <a:pt x="0" y="343502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1574611" y="2215766"/>
            <a:ext cx="12251916" cy="3713690"/>
          </a:xfrm>
          <a:prstGeom prst="rect">
            <a:avLst/>
          </a:prstGeom>
        </p:spPr>
        <p:txBody>
          <a:bodyPr anchor="t" rtlCol="false" tIns="0" lIns="0" bIns="0" rIns="0">
            <a:spAutoFit/>
          </a:bodyPr>
          <a:lstStyle/>
          <a:p>
            <a:pPr algn="l" marL="656713" indent="-328356" lvl="1">
              <a:lnSpc>
                <a:spcPts val="4258"/>
              </a:lnSpc>
              <a:buFont typeface="Arial"/>
              <a:buChar char="•"/>
            </a:pPr>
            <a:r>
              <a:rPr lang="en-US" b="true" sz="3041">
                <a:solidFill>
                  <a:srgbClr val="FFFFFF"/>
                </a:solidFill>
                <a:latin typeface="Canva Sans Bold"/>
                <a:ea typeface="Canva Sans Bold"/>
                <a:cs typeface="Canva Sans Bold"/>
                <a:sym typeface="Canva Sans Bold"/>
              </a:rPr>
              <a:t>The Linear Regression model successfully predicted salaries based on experience.</a:t>
            </a:r>
          </a:p>
          <a:p>
            <a:pPr algn="l" marL="656713" indent="-328356" lvl="1">
              <a:lnSpc>
                <a:spcPts val="4258"/>
              </a:lnSpc>
              <a:buFont typeface="Arial"/>
              <a:buChar char="•"/>
            </a:pPr>
            <a:r>
              <a:rPr lang="en-US" b="true" sz="3041">
                <a:solidFill>
                  <a:srgbClr val="FFFFFF"/>
                </a:solidFill>
                <a:latin typeface="Canva Sans Bold"/>
                <a:ea typeface="Canva Sans Bold"/>
                <a:cs typeface="Canva Sans Bold"/>
                <a:sym typeface="Canva Sans Bold"/>
              </a:rPr>
              <a:t>Predicted values were close to the actual salary values.</a:t>
            </a:r>
          </a:p>
          <a:p>
            <a:pPr algn="l" marL="656713" indent="-328356" lvl="1">
              <a:lnSpc>
                <a:spcPts val="4258"/>
              </a:lnSpc>
              <a:buFont typeface="Arial"/>
              <a:buChar char="•"/>
            </a:pPr>
            <a:r>
              <a:rPr lang="en-US" b="true" sz="3041">
                <a:solidFill>
                  <a:srgbClr val="FFFFFF"/>
                </a:solidFill>
                <a:latin typeface="Canva Sans Bold"/>
                <a:ea typeface="Canva Sans Bold"/>
                <a:cs typeface="Canva Sans Bold"/>
                <a:sym typeface="Canva Sans Bold"/>
              </a:rPr>
              <a:t>The regression line shows a positive relationship between experience and salary.</a:t>
            </a:r>
          </a:p>
          <a:p>
            <a:pPr algn="l" marL="656713" indent="-328356" lvl="1">
              <a:lnSpc>
                <a:spcPts val="4258"/>
              </a:lnSpc>
              <a:buFont typeface="Arial"/>
              <a:buChar char="•"/>
            </a:pPr>
            <a:r>
              <a:rPr lang="en-US" b="true" sz="3041">
                <a:solidFill>
                  <a:srgbClr val="FFFFFF"/>
                </a:solidFill>
                <a:latin typeface="Canva Sans Bold"/>
                <a:ea typeface="Canva Sans Bold"/>
                <a:cs typeface="Canva Sans Bold"/>
                <a:sym typeface="Canva Sans Bold"/>
              </a:rPr>
              <a:t>This indicates that the model performs well for salary prediction.</a:t>
            </a:r>
          </a:p>
        </p:txBody>
      </p:sp>
      <p:sp>
        <p:nvSpPr>
          <p:cNvPr name="Freeform 13" id="13"/>
          <p:cNvSpPr/>
          <p:nvPr/>
        </p:nvSpPr>
        <p:spPr>
          <a:xfrm flipH="false" flipV="false" rot="0">
            <a:off x="692296" y="6568885"/>
            <a:ext cx="10243703" cy="2474716"/>
          </a:xfrm>
          <a:custGeom>
            <a:avLst/>
            <a:gdLst/>
            <a:ahLst/>
            <a:cxnLst/>
            <a:rect r="r" b="b" t="t" l="l"/>
            <a:pathLst>
              <a:path h="2474716" w="10243703">
                <a:moveTo>
                  <a:pt x="0" y="0"/>
                </a:moveTo>
                <a:lnTo>
                  <a:pt x="10243704" y="0"/>
                </a:lnTo>
                <a:lnTo>
                  <a:pt x="10243704" y="2474716"/>
                </a:lnTo>
                <a:lnTo>
                  <a:pt x="0" y="2474716"/>
                </a:lnTo>
                <a:lnTo>
                  <a:pt x="0" y="0"/>
                </a:lnTo>
                <a:close/>
              </a:path>
            </a:pathLst>
          </a:custGeom>
          <a:blipFill>
            <a:blip r:embed="rId10"/>
            <a:stretch>
              <a:fillRect l="0" t="0" r="0" b="0"/>
            </a:stretch>
          </a:blipFill>
        </p:spPr>
      </p:sp>
      <p:sp>
        <p:nvSpPr>
          <p:cNvPr name="Freeform 14" id="14"/>
          <p:cNvSpPr/>
          <p:nvPr/>
        </p:nvSpPr>
        <p:spPr>
          <a:xfrm flipH="false" flipV="false" rot="0">
            <a:off x="11622881" y="6568885"/>
            <a:ext cx="6301973" cy="1357309"/>
          </a:xfrm>
          <a:custGeom>
            <a:avLst/>
            <a:gdLst/>
            <a:ahLst/>
            <a:cxnLst/>
            <a:rect r="r" b="b" t="t" l="l"/>
            <a:pathLst>
              <a:path h="1357309" w="6301973">
                <a:moveTo>
                  <a:pt x="0" y="0"/>
                </a:moveTo>
                <a:lnTo>
                  <a:pt x="6301973" y="0"/>
                </a:lnTo>
                <a:lnTo>
                  <a:pt x="6301973" y="1357309"/>
                </a:lnTo>
                <a:lnTo>
                  <a:pt x="0" y="1357309"/>
                </a:lnTo>
                <a:lnTo>
                  <a:pt x="0" y="0"/>
                </a:lnTo>
                <a:close/>
              </a:path>
            </a:pathLst>
          </a:custGeom>
          <a:blipFill>
            <a:blip r:embed="rId11"/>
            <a:stretch>
              <a:fillRect l="-12949" t="0" r="-12361" b="0"/>
            </a:stretch>
          </a:blipFill>
        </p:spPr>
      </p:sp>
      <p:sp>
        <p:nvSpPr>
          <p:cNvPr name="TextBox 15" id="15"/>
          <p:cNvSpPr txBox="true"/>
          <p:nvPr/>
        </p:nvSpPr>
        <p:spPr>
          <a:xfrm rot="0">
            <a:off x="15188314" y="9475469"/>
            <a:ext cx="4141972" cy="450849"/>
          </a:xfrm>
          <a:prstGeom prst="rect">
            <a:avLst/>
          </a:prstGeom>
        </p:spPr>
        <p:txBody>
          <a:bodyPr anchor="t" rtlCol="false" tIns="0" lIns="0" bIns="0" rIns="0">
            <a:spAutoFit/>
          </a:bodyPr>
          <a:lstStyle/>
          <a:p>
            <a:pPr algn="l">
              <a:lnSpc>
                <a:spcPts val="3500"/>
              </a:lnSpc>
            </a:pPr>
            <a:r>
              <a:rPr lang="en-US" sz="2500" b="true">
                <a:solidFill>
                  <a:srgbClr val="FFFFFF"/>
                </a:solidFill>
                <a:latin typeface="Poppins Bold"/>
                <a:ea typeface="Poppins Bold"/>
                <a:cs typeface="Poppins Bold"/>
                <a:sym typeface="Poppins Bold"/>
              </a:rPr>
              <a:t>KARAN  SINGH</a:t>
            </a:r>
          </a:p>
        </p:txBody>
      </p:sp>
      <p:sp>
        <p:nvSpPr>
          <p:cNvPr name="TextBox 16" id="16"/>
          <p:cNvSpPr txBox="true"/>
          <p:nvPr/>
        </p:nvSpPr>
        <p:spPr>
          <a:xfrm rot="0">
            <a:off x="1574611" y="175777"/>
            <a:ext cx="7285607" cy="1534396"/>
          </a:xfrm>
          <a:prstGeom prst="rect">
            <a:avLst/>
          </a:prstGeom>
        </p:spPr>
        <p:txBody>
          <a:bodyPr anchor="t" rtlCol="false" tIns="0" lIns="0" bIns="0" rIns="0">
            <a:spAutoFit/>
          </a:bodyPr>
          <a:lstStyle/>
          <a:p>
            <a:pPr algn="l">
              <a:lnSpc>
                <a:spcPts val="12552"/>
              </a:lnSpc>
            </a:pPr>
            <a:r>
              <a:rPr lang="en-US" sz="8965" b="true">
                <a:solidFill>
                  <a:srgbClr val="00FFD1"/>
                </a:solidFill>
                <a:latin typeface="Canva Sans Bold"/>
                <a:ea typeface="Canva Sans Bold"/>
                <a:cs typeface="Canva Sans Bold"/>
                <a:sym typeface="Canva Sans Bold"/>
              </a:rPr>
              <a:t>Results</a:t>
            </a:r>
          </a:p>
        </p:txBody>
      </p:sp>
      <p:sp>
        <p:nvSpPr>
          <p:cNvPr name="TextBox 17" id="17"/>
          <p:cNvSpPr txBox="true"/>
          <p:nvPr/>
        </p:nvSpPr>
        <p:spPr>
          <a:xfrm rot="0">
            <a:off x="4177205" y="9201150"/>
            <a:ext cx="3078758" cy="537844"/>
          </a:xfrm>
          <a:prstGeom prst="rect">
            <a:avLst/>
          </a:prstGeom>
        </p:spPr>
        <p:txBody>
          <a:bodyPr anchor="t" rtlCol="false" tIns="0" lIns="0" bIns="0" rIns="0">
            <a:spAutoFit/>
          </a:bodyPr>
          <a:lstStyle/>
          <a:p>
            <a:pPr algn="ctr">
              <a:lnSpc>
                <a:spcPts val="4480"/>
              </a:lnSpc>
            </a:pPr>
            <a:r>
              <a:rPr lang="en-US" sz="3200" b="true">
                <a:solidFill>
                  <a:srgbClr val="FFFFFF"/>
                </a:solidFill>
                <a:latin typeface="Canva Sans Bold"/>
                <a:ea typeface="Canva Sans Bold"/>
                <a:cs typeface="Canva Sans Bold"/>
                <a:sym typeface="Canva Sans Bold"/>
              </a:rPr>
              <a:t>Code , Input = 5</a:t>
            </a:r>
          </a:p>
        </p:txBody>
      </p:sp>
      <p:sp>
        <p:nvSpPr>
          <p:cNvPr name="TextBox 18" id="18"/>
          <p:cNvSpPr txBox="true"/>
          <p:nvPr/>
        </p:nvSpPr>
        <p:spPr>
          <a:xfrm rot="0">
            <a:off x="13338374" y="8072921"/>
            <a:ext cx="2315071"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Output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44978" cy="812800"/>
          </a:xfrm>
        </p:grpSpPr>
        <p:sp>
          <p:nvSpPr>
            <p:cNvPr name="Freeform 3" id="3"/>
            <p:cNvSpPr/>
            <p:nvPr/>
          </p:nvSpPr>
          <p:spPr>
            <a:xfrm flipH="false" flipV="false" rot="0">
              <a:off x="0" y="0"/>
              <a:ext cx="1444978" cy="812800"/>
            </a:xfrm>
            <a:custGeom>
              <a:avLst/>
              <a:gdLst/>
              <a:ahLst/>
              <a:cxnLst/>
              <a:rect r="r" b="b" t="t" l="l"/>
              <a:pathLst>
                <a:path h="812800" w="1444978">
                  <a:moveTo>
                    <a:pt x="0" y="0"/>
                  </a:moveTo>
                  <a:lnTo>
                    <a:pt x="1444978" y="0"/>
                  </a:lnTo>
                  <a:lnTo>
                    <a:pt x="1444978" y="812800"/>
                  </a:lnTo>
                  <a:lnTo>
                    <a:pt x="0" y="812800"/>
                  </a:lnTo>
                  <a:close/>
                </a:path>
              </a:pathLst>
            </a:custGeom>
            <a:blipFill>
              <a:blip r:embed="rId2"/>
              <a:stretch>
                <a:fillRect l="-3317" t="0" r="-3317" b="0"/>
              </a:stretch>
            </a:blipFill>
          </p:spPr>
        </p:sp>
      </p:grpSp>
      <p:grpSp>
        <p:nvGrpSpPr>
          <p:cNvPr name="Group 4" id="4"/>
          <p:cNvGrpSpPr/>
          <p:nvPr/>
        </p:nvGrpSpPr>
        <p:grpSpPr>
          <a:xfrm rot="0">
            <a:off x="0" y="0"/>
            <a:ext cx="18288000" cy="10287000"/>
            <a:chOff x="0" y="0"/>
            <a:chExt cx="4816593" cy="2709333"/>
          </a:xfrm>
        </p:grpSpPr>
        <p:sp>
          <p:nvSpPr>
            <p:cNvPr name="Freeform 5" id="5"/>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11076D">
                    <a:alpha val="64000"/>
                  </a:srgbClr>
                </a:gs>
                <a:gs pos="100000">
                  <a:srgbClr val="144357">
                    <a:alpha val="64000"/>
                  </a:srgbClr>
                </a:gs>
              </a:gsLst>
              <a:path path="circle">
                <a:fillToRect l="0" r="100000" t="0" b="100000"/>
              </a:path>
              <a:tileRect r="0" l="-100000" b="0" t="-100000"/>
            </a:gradFill>
          </p:spPr>
        </p:sp>
        <p:sp>
          <p:nvSpPr>
            <p:cNvPr name="TextBox 6" id="6"/>
            <p:cNvSpPr txBox="true"/>
            <p:nvPr/>
          </p:nvSpPr>
          <p:spPr>
            <a:xfrm>
              <a:off x="0" y="-57150"/>
              <a:ext cx="4816593" cy="276648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4325810" y="9415320"/>
            <a:ext cx="672808" cy="672808"/>
          </a:xfrm>
          <a:custGeom>
            <a:avLst/>
            <a:gdLst/>
            <a:ahLst/>
            <a:cxnLst/>
            <a:rect r="r" b="b" t="t" l="l"/>
            <a:pathLst>
              <a:path h="672808" w="672808">
                <a:moveTo>
                  <a:pt x="0" y="0"/>
                </a:moveTo>
                <a:lnTo>
                  <a:pt x="672808" y="0"/>
                </a:lnTo>
                <a:lnTo>
                  <a:pt x="672808" y="672808"/>
                </a:lnTo>
                <a:lnTo>
                  <a:pt x="0" y="6728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2128790" y="2620606"/>
            <a:ext cx="14156819" cy="5365626"/>
            <a:chOff x="0" y="0"/>
            <a:chExt cx="3088082" cy="1170425"/>
          </a:xfrm>
        </p:grpSpPr>
        <p:sp>
          <p:nvSpPr>
            <p:cNvPr name="Freeform 9" id="9"/>
            <p:cNvSpPr/>
            <p:nvPr/>
          </p:nvSpPr>
          <p:spPr>
            <a:xfrm flipH="false" flipV="false" rot="0">
              <a:off x="0" y="0"/>
              <a:ext cx="3088082" cy="1170425"/>
            </a:xfrm>
            <a:custGeom>
              <a:avLst/>
              <a:gdLst/>
              <a:ahLst/>
              <a:cxnLst/>
              <a:rect r="r" b="b" t="t" l="l"/>
              <a:pathLst>
                <a:path h="1170425" w="3088082">
                  <a:moveTo>
                    <a:pt x="27890" y="0"/>
                  </a:moveTo>
                  <a:lnTo>
                    <a:pt x="3060192" y="0"/>
                  </a:lnTo>
                  <a:cubicBezTo>
                    <a:pt x="3075595" y="0"/>
                    <a:pt x="3088082" y="12487"/>
                    <a:pt x="3088082" y="27890"/>
                  </a:cubicBezTo>
                  <a:lnTo>
                    <a:pt x="3088082" y="1142535"/>
                  </a:lnTo>
                  <a:cubicBezTo>
                    <a:pt x="3088082" y="1149932"/>
                    <a:pt x="3085144" y="1157026"/>
                    <a:pt x="3079913" y="1162256"/>
                  </a:cubicBezTo>
                  <a:cubicBezTo>
                    <a:pt x="3074683" y="1167487"/>
                    <a:pt x="3067589" y="1170425"/>
                    <a:pt x="3060192" y="1170425"/>
                  </a:cubicBezTo>
                  <a:lnTo>
                    <a:pt x="27890" y="1170425"/>
                  </a:lnTo>
                  <a:cubicBezTo>
                    <a:pt x="12487" y="1170425"/>
                    <a:pt x="0" y="1157938"/>
                    <a:pt x="0" y="1142535"/>
                  </a:cubicBezTo>
                  <a:lnTo>
                    <a:pt x="0" y="27890"/>
                  </a:lnTo>
                  <a:cubicBezTo>
                    <a:pt x="0" y="20493"/>
                    <a:pt x="2938" y="13399"/>
                    <a:pt x="8169" y="8169"/>
                  </a:cubicBezTo>
                  <a:cubicBezTo>
                    <a:pt x="13399" y="2938"/>
                    <a:pt x="20493" y="0"/>
                    <a:pt x="27890" y="0"/>
                  </a:cubicBezTo>
                  <a:close/>
                </a:path>
              </a:pathLst>
            </a:custGeom>
            <a:solidFill>
              <a:srgbClr val="21DEE8">
                <a:alpha val="12941"/>
              </a:srgbClr>
            </a:solidFill>
          </p:spPr>
        </p:sp>
        <p:sp>
          <p:nvSpPr>
            <p:cNvPr name="TextBox 10" id="10"/>
            <p:cNvSpPr txBox="true"/>
            <p:nvPr/>
          </p:nvSpPr>
          <p:spPr>
            <a:xfrm>
              <a:off x="0" y="-66675"/>
              <a:ext cx="3088082" cy="1237100"/>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2128790" y="2554561"/>
            <a:ext cx="14156819" cy="5431671"/>
            <a:chOff x="0" y="0"/>
            <a:chExt cx="3088082" cy="1184832"/>
          </a:xfrm>
        </p:grpSpPr>
        <p:sp>
          <p:nvSpPr>
            <p:cNvPr name="Freeform 12" id="12"/>
            <p:cNvSpPr/>
            <p:nvPr/>
          </p:nvSpPr>
          <p:spPr>
            <a:xfrm flipH="false" flipV="false" rot="0">
              <a:off x="0" y="0"/>
              <a:ext cx="3088082" cy="1184832"/>
            </a:xfrm>
            <a:custGeom>
              <a:avLst/>
              <a:gdLst/>
              <a:ahLst/>
              <a:cxnLst/>
              <a:rect r="r" b="b" t="t" l="l"/>
              <a:pathLst>
                <a:path h="1184832" w="3088082">
                  <a:moveTo>
                    <a:pt x="27890" y="0"/>
                  </a:moveTo>
                  <a:lnTo>
                    <a:pt x="3060192" y="0"/>
                  </a:lnTo>
                  <a:cubicBezTo>
                    <a:pt x="3075595" y="0"/>
                    <a:pt x="3088082" y="12487"/>
                    <a:pt x="3088082" y="27890"/>
                  </a:cubicBezTo>
                  <a:lnTo>
                    <a:pt x="3088082" y="1156941"/>
                  </a:lnTo>
                  <a:cubicBezTo>
                    <a:pt x="3088082" y="1164338"/>
                    <a:pt x="3085144" y="1171432"/>
                    <a:pt x="3079913" y="1176663"/>
                  </a:cubicBezTo>
                  <a:cubicBezTo>
                    <a:pt x="3074683" y="1181893"/>
                    <a:pt x="3067589" y="1184832"/>
                    <a:pt x="3060192" y="1184832"/>
                  </a:cubicBezTo>
                  <a:lnTo>
                    <a:pt x="27890" y="1184832"/>
                  </a:lnTo>
                  <a:cubicBezTo>
                    <a:pt x="20493" y="1184832"/>
                    <a:pt x="13399" y="1181893"/>
                    <a:pt x="8169" y="1176663"/>
                  </a:cubicBezTo>
                  <a:cubicBezTo>
                    <a:pt x="2938" y="1171432"/>
                    <a:pt x="0" y="1164338"/>
                    <a:pt x="0" y="1156941"/>
                  </a:cubicBezTo>
                  <a:lnTo>
                    <a:pt x="0" y="27890"/>
                  </a:lnTo>
                  <a:cubicBezTo>
                    <a:pt x="0" y="20493"/>
                    <a:pt x="2938" y="13399"/>
                    <a:pt x="8169" y="8169"/>
                  </a:cubicBezTo>
                  <a:cubicBezTo>
                    <a:pt x="13399" y="2938"/>
                    <a:pt x="20493" y="0"/>
                    <a:pt x="27890" y="0"/>
                  </a:cubicBezTo>
                  <a:close/>
                </a:path>
              </a:pathLst>
            </a:custGeom>
            <a:ln w="47625" cap="rnd">
              <a:gradFill>
                <a:gsLst>
                  <a:gs pos="0">
                    <a:srgbClr val="004AB8">
                      <a:alpha val="100000"/>
                    </a:srgbClr>
                  </a:gs>
                  <a:gs pos="100000">
                    <a:srgbClr val="00FFD1">
                      <a:alpha val="100000"/>
                    </a:srgbClr>
                  </a:gs>
                </a:gsLst>
                <a:path path="circle">
                  <a:fillToRect l="0" r="100000" t="0" b="100000"/>
                </a:path>
                <a:tileRect r="0" l="-100000" b="0" t="-100000"/>
              </a:gradFill>
              <a:prstDash val="solid"/>
              <a:round/>
            </a:ln>
          </p:spPr>
        </p:sp>
        <p:sp>
          <p:nvSpPr>
            <p:cNvPr name="TextBox 13" id="13"/>
            <p:cNvSpPr txBox="true"/>
            <p:nvPr/>
          </p:nvSpPr>
          <p:spPr>
            <a:xfrm>
              <a:off x="0" y="-66675"/>
              <a:ext cx="3088082" cy="1251507"/>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2233497" y="5462632"/>
            <a:ext cx="3598601" cy="3435028"/>
          </a:xfrm>
          <a:custGeom>
            <a:avLst/>
            <a:gdLst/>
            <a:ahLst/>
            <a:cxnLst/>
            <a:rect r="r" b="b" t="t" l="l"/>
            <a:pathLst>
              <a:path h="3435028" w="3598601">
                <a:moveTo>
                  <a:pt x="0" y="0"/>
                </a:moveTo>
                <a:lnTo>
                  <a:pt x="3598601" y="0"/>
                </a:lnTo>
                <a:lnTo>
                  <a:pt x="3598601" y="3435028"/>
                </a:lnTo>
                <a:lnTo>
                  <a:pt x="0" y="34350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true" flipV="false" rot="0">
            <a:off x="17049295" y="2374216"/>
            <a:ext cx="3598601" cy="3435028"/>
          </a:xfrm>
          <a:custGeom>
            <a:avLst/>
            <a:gdLst/>
            <a:ahLst/>
            <a:cxnLst/>
            <a:rect r="r" b="b" t="t" l="l"/>
            <a:pathLst>
              <a:path h="3435028" w="3598601">
                <a:moveTo>
                  <a:pt x="3598602" y="0"/>
                </a:moveTo>
                <a:lnTo>
                  <a:pt x="0" y="0"/>
                </a:lnTo>
                <a:lnTo>
                  <a:pt x="0" y="3435028"/>
                </a:lnTo>
                <a:lnTo>
                  <a:pt x="3598602" y="3435028"/>
                </a:lnTo>
                <a:lnTo>
                  <a:pt x="3598602"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6" id="16"/>
          <p:cNvGrpSpPr/>
          <p:nvPr/>
        </p:nvGrpSpPr>
        <p:grpSpPr>
          <a:xfrm rot="0">
            <a:off x="10928060" y="9506926"/>
            <a:ext cx="8212531" cy="47625"/>
            <a:chOff x="0" y="0"/>
            <a:chExt cx="2162971" cy="12543"/>
          </a:xfrm>
        </p:grpSpPr>
        <p:sp>
          <p:nvSpPr>
            <p:cNvPr name="Freeform 17" id="17"/>
            <p:cNvSpPr/>
            <p:nvPr/>
          </p:nvSpPr>
          <p:spPr>
            <a:xfrm flipH="false" flipV="false" rot="0">
              <a:off x="0" y="0"/>
              <a:ext cx="2162971" cy="12543"/>
            </a:xfrm>
            <a:custGeom>
              <a:avLst/>
              <a:gdLst/>
              <a:ahLst/>
              <a:cxnLst/>
              <a:rect r="r" b="b" t="t" l="l"/>
              <a:pathLst>
                <a:path h="12543" w="2162971">
                  <a:moveTo>
                    <a:pt x="0" y="0"/>
                  </a:moveTo>
                  <a:lnTo>
                    <a:pt x="2162971" y="0"/>
                  </a:lnTo>
                  <a:lnTo>
                    <a:pt x="2162971" y="12543"/>
                  </a:lnTo>
                  <a:lnTo>
                    <a:pt x="0" y="12543"/>
                  </a:lnTo>
                  <a:close/>
                </a:path>
              </a:pathLst>
            </a:custGeom>
            <a:solidFill>
              <a:srgbClr val="20E5F6"/>
            </a:solidFill>
          </p:spPr>
        </p:sp>
        <p:sp>
          <p:nvSpPr>
            <p:cNvPr name="TextBox 18" id="18"/>
            <p:cNvSpPr txBox="true"/>
            <p:nvPr/>
          </p:nvSpPr>
          <p:spPr>
            <a:xfrm>
              <a:off x="0" y="-66675"/>
              <a:ext cx="2162971" cy="79218"/>
            </a:xfrm>
            <a:prstGeom prst="rect">
              <a:avLst/>
            </a:prstGeom>
          </p:spPr>
          <p:txBody>
            <a:bodyPr anchor="ctr" rtlCol="false" tIns="50800" lIns="50800" bIns="50800" rIns="50800"/>
            <a:lstStyle/>
            <a:p>
              <a:pPr algn="ctr">
                <a:lnSpc>
                  <a:spcPts val="2800"/>
                </a:lnSpc>
              </a:pPr>
            </a:p>
          </p:txBody>
        </p:sp>
      </p:grpSp>
      <p:grpSp>
        <p:nvGrpSpPr>
          <p:cNvPr name="Group 19" id="19"/>
          <p:cNvGrpSpPr/>
          <p:nvPr/>
        </p:nvGrpSpPr>
        <p:grpSpPr>
          <a:xfrm rot="0">
            <a:off x="10928060" y="9415320"/>
            <a:ext cx="230836" cy="23083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E5F6"/>
            </a:solidFill>
          </p:spPr>
        </p:sp>
        <p:sp>
          <p:nvSpPr>
            <p:cNvPr name="TextBox 21" id="21"/>
            <p:cNvSpPr txBox="true"/>
            <p:nvPr/>
          </p:nvSpPr>
          <p:spPr>
            <a:xfrm>
              <a:off x="76200" y="9525"/>
              <a:ext cx="660400" cy="727075"/>
            </a:xfrm>
            <a:prstGeom prst="rect">
              <a:avLst/>
            </a:prstGeom>
          </p:spPr>
          <p:txBody>
            <a:bodyPr anchor="ctr" rtlCol="false" tIns="50800" lIns="50800" bIns="50800" rIns="50800"/>
            <a:lstStyle/>
            <a:p>
              <a:pPr algn="ctr">
                <a:lnSpc>
                  <a:spcPts val="2800"/>
                </a:lnSpc>
              </a:pPr>
            </a:p>
          </p:txBody>
        </p:sp>
      </p:grpSp>
      <p:grpSp>
        <p:nvGrpSpPr>
          <p:cNvPr name="Group 22" id="22"/>
          <p:cNvGrpSpPr/>
          <p:nvPr/>
        </p:nvGrpSpPr>
        <p:grpSpPr>
          <a:xfrm rot="-10800000">
            <a:off x="-5146894" y="2215935"/>
            <a:ext cx="8212531" cy="47625"/>
            <a:chOff x="0" y="0"/>
            <a:chExt cx="2162971" cy="12543"/>
          </a:xfrm>
        </p:grpSpPr>
        <p:sp>
          <p:nvSpPr>
            <p:cNvPr name="Freeform 23" id="23"/>
            <p:cNvSpPr/>
            <p:nvPr/>
          </p:nvSpPr>
          <p:spPr>
            <a:xfrm flipH="false" flipV="false" rot="0">
              <a:off x="0" y="0"/>
              <a:ext cx="2162971" cy="12543"/>
            </a:xfrm>
            <a:custGeom>
              <a:avLst/>
              <a:gdLst/>
              <a:ahLst/>
              <a:cxnLst/>
              <a:rect r="r" b="b" t="t" l="l"/>
              <a:pathLst>
                <a:path h="12543" w="2162971">
                  <a:moveTo>
                    <a:pt x="0" y="0"/>
                  </a:moveTo>
                  <a:lnTo>
                    <a:pt x="2162971" y="0"/>
                  </a:lnTo>
                  <a:lnTo>
                    <a:pt x="2162971" y="12543"/>
                  </a:lnTo>
                  <a:lnTo>
                    <a:pt x="0" y="12543"/>
                  </a:lnTo>
                  <a:close/>
                </a:path>
              </a:pathLst>
            </a:custGeom>
            <a:solidFill>
              <a:srgbClr val="20E5F6"/>
            </a:solidFill>
          </p:spPr>
        </p:sp>
        <p:sp>
          <p:nvSpPr>
            <p:cNvPr name="TextBox 24" id="24"/>
            <p:cNvSpPr txBox="true"/>
            <p:nvPr/>
          </p:nvSpPr>
          <p:spPr>
            <a:xfrm>
              <a:off x="0" y="-66675"/>
              <a:ext cx="2162971" cy="79218"/>
            </a:xfrm>
            <a:prstGeom prst="rect">
              <a:avLst/>
            </a:prstGeom>
          </p:spPr>
          <p:txBody>
            <a:bodyPr anchor="ctr" rtlCol="false" tIns="50800" lIns="50800" bIns="50800" rIns="50800"/>
            <a:lstStyle/>
            <a:p>
              <a:pPr algn="ctr">
                <a:lnSpc>
                  <a:spcPts val="2800"/>
                </a:lnSpc>
              </a:pPr>
            </a:p>
          </p:txBody>
        </p:sp>
      </p:grpSp>
      <p:grpSp>
        <p:nvGrpSpPr>
          <p:cNvPr name="Group 25" id="25"/>
          <p:cNvGrpSpPr/>
          <p:nvPr/>
        </p:nvGrpSpPr>
        <p:grpSpPr>
          <a:xfrm rot="-10800000">
            <a:off x="2834801" y="2124330"/>
            <a:ext cx="230836" cy="230836"/>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E5F6"/>
            </a:solidFill>
          </p:spPr>
        </p:sp>
        <p:sp>
          <p:nvSpPr>
            <p:cNvPr name="TextBox 27" id="27"/>
            <p:cNvSpPr txBox="true"/>
            <p:nvPr/>
          </p:nvSpPr>
          <p:spPr>
            <a:xfrm>
              <a:off x="76200" y="9525"/>
              <a:ext cx="660400" cy="727075"/>
            </a:xfrm>
            <a:prstGeom prst="rect">
              <a:avLst/>
            </a:prstGeom>
          </p:spPr>
          <p:txBody>
            <a:bodyPr anchor="ctr" rtlCol="false" tIns="50800" lIns="50800" bIns="50800" rIns="50800"/>
            <a:lstStyle/>
            <a:p>
              <a:pPr algn="ctr">
                <a:lnSpc>
                  <a:spcPts val="2800"/>
                </a:lnSpc>
              </a:pPr>
            </a:p>
          </p:txBody>
        </p:sp>
      </p:grpSp>
      <p:sp>
        <p:nvSpPr>
          <p:cNvPr name="TextBox 28" id="28"/>
          <p:cNvSpPr txBox="true"/>
          <p:nvPr/>
        </p:nvSpPr>
        <p:spPr>
          <a:xfrm rot="0">
            <a:off x="2460389" y="2891878"/>
            <a:ext cx="13493622" cy="4780914"/>
          </a:xfrm>
          <a:prstGeom prst="rect">
            <a:avLst/>
          </a:prstGeom>
        </p:spPr>
        <p:txBody>
          <a:bodyPr anchor="t" rtlCol="false" tIns="0" lIns="0" bIns="0" rIns="0">
            <a:spAutoFit/>
          </a:bodyPr>
          <a:lstStyle/>
          <a:p>
            <a:pPr algn="l">
              <a:lnSpc>
                <a:spcPts val="4760"/>
              </a:lnSpc>
            </a:pPr>
            <a:r>
              <a:rPr lang="en-US" sz="3400">
                <a:solidFill>
                  <a:srgbClr val="FFFFFF"/>
                </a:solidFill>
                <a:latin typeface="Canva Sans"/>
                <a:ea typeface="Canva Sans"/>
                <a:cs typeface="Canva Sans"/>
                <a:sym typeface="Canva Sans"/>
              </a:rPr>
              <a:t>This project shows that regression mo</a:t>
            </a:r>
            <a:r>
              <a:rPr lang="en-US" sz="3400">
                <a:solidFill>
                  <a:srgbClr val="FFFFFF"/>
                </a:solidFill>
                <a:latin typeface="Canva Sans"/>
                <a:ea typeface="Canva Sans"/>
                <a:cs typeface="Canva Sans"/>
                <a:sym typeface="Canva Sans"/>
              </a:rPr>
              <a:t>dels can analyze factors like experience to predict salary. It demonstrates how machine learning can be used to make accurate and data-driven predictions.</a:t>
            </a:r>
          </a:p>
          <a:p>
            <a:pPr algn="l">
              <a:lnSpc>
                <a:spcPts val="4760"/>
              </a:lnSpc>
            </a:pPr>
          </a:p>
          <a:p>
            <a:pPr algn="l">
              <a:lnSpc>
                <a:spcPts val="4760"/>
              </a:lnSpc>
            </a:pPr>
            <a:r>
              <a:rPr lang="en-US" sz="3400">
                <a:solidFill>
                  <a:srgbClr val="FFFFFF"/>
                </a:solidFill>
                <a:latin typeface="Canva Sans"/>
                <a:ea typeface="Canva Sans"/>
                <a:cs typeface="Canva Sans"/>
                <a:sym typeface="Canva Sans"/>
              </a:rPr>
              <a:t>The model achieved an accuracy of around 98%, demonstrating that machine learning can provide reliable insights for salary estimation.</a:t>
            </a:r>
          </a:p>
        </p:txBody>
      </p:sp>
      <p:sp>
        <p:nvSpPr>
          <p:cNvPr name="Freeform 29" id="29"/>
          <p:cNvSpPr/>
          <p:nvPr/>
        </p:nvSpPr>
        <p:spPr>
          <a:xfrm flipH="false" flipV="false" rot="0">
            <a:off x="3345122" y="8339000"/>
            <a:ext cx="9821997" cy="919300"/>
          </a:xfrm>
          <a:custGeom>
            <a:avLst/>
            <a:gdLst/>
            <a:ahLst/>
            <a:cxnLst/>
            <a:rect r="r" b="b" t="t" l="l"/>
            <a:pathLst>
              <a:path h="919300" w="9821997">
                <a:moveTo>
                  <a:pt x="0" y="0"/>
                </a:moveTo>
                <a:lnTo>
                  <a:pt x="9821996" y="0"/>
                </a:lnTo>
                <a:lnTo>
                  <a:pt x="9821996" y="919300"/>
                </a:lnTo>
                <a:lnTo>
                  <a:pt x="0" y="919300"/>
                </a:lnTo>
                <a:lnTo>
                  <a:pt x="0" y="0"/>
                </a:lnTo>
                <a:close/>
              </a:path>
            </a:pathLst>
          </a:custGeom>
          <a:blipFill>
            <a:blip r:embed="rId7"/>
            <a:stretch>
              <a:fillRect l="0" t="0" r="0" b="0"/>
            </a:stretch>
          </a:blipFill>
        </p:spPr>
      </p:sp>
      <p:sp>
        <p:nvSpPr>
          <p:cNvPr name="TextBox 30" id="30"/>
          <p:cNvSpPr txBox="true"/>
          <p:nvPr/>
        </p:nvSpPr>
        <p:spPr>
          <a:xfrm rot="0">
            <a:off x="14998618" y="9569956"/>
            <a:ext cx="4141972" cy="450849"/>
          </a:xfrm>
          <a:prstGeom prst="rect">
            <a:avLst/>
          </a:prstGeom>
        </p:spPr>
        <p:txBody>
          <a:bodyPr anchor="t" rtlCol="false" tIns="0" lIns="0" bIns="0" rIns="0">
            <a:spAutoFit/>
          </a:bodyPr>
          <a:lstStyle/>
          <a:p>
            <a:pPr algn="l">
              <a:lnSpc>
                <a:spcPts val="3500"/>
              </a:lnSpc>
            </a:pPr>
            <a:r>
              <a:rPr lang="en-US" sz="2500" b="true">
                <a:solidFill>
                  <a:srgbClr val="FFFFFF"/>
                </a:solidFill>
                <a:latin typeface="Poppins Bold"/>
                <a:ea typeface="Poppins Bold"/>
                <a:cs typeface="Poppins Bold"/>
                <a:sym typeface="Poppins Bold"/>
              </a:rPr>
              <a:t>KARAN  SINGH</a:t>
            </a:r>
          </a:p>
        </p:txBody>
      </p:sp>
      <p:sp>
        <p:nvSpPr>
          <p:cNvPr name="TextBox 31" id="31"/>
          <p:cNvSpPr txBox="true"/>
          <p:nvPr/>
        </p:nvSpPr>
        <p:spPr>
          <a:xfrm rot="0">
            <a:off x="5120882" y="385600"/>
            <a:ext cx="8046237" cy="1700790"/>
          </a:xfrm>
          <a:prstGeom prst="rect">
            <a:avLst/>
          </a:prstGeom>
        </p:spPr>
        <p:txBody>
          <a:bodyPr anchor="t" rtlCol="false" tIns="0" lIns="0" bIns="0" rIns="0">
            <a:spAutoFit/>
          </a:bodyPr>
          <a:lstStyle/>
          <a:p>
            <a:pPr algn="ctr">
              <a:lnSpc>
                <a:spcPts val="13880"/>
              </a:lnSpc>
            </a:pPr>
            <a:r>
              <a:rPr lang="en-US" sz="9914" b="true">
                <a:solidFill>
                  <a:srgbClr val="00FFD1"/>
                </a:solidFill>
                <a:latin typeface="Canva Sans Bold"/>
                <a:ea typeface="Canva Sans Bold"/>
                <a:cs typeface="Canva Sans Bold"/>
                <a:sym typeface="Canva Sans Bold"/>
              </a:rPr>
              <a:t>Conclusion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444978" cy="812800"/>
          </a:xfrm>
        </p:grpSpPr>
        <p:sp>
          <p:nvSpPr>
            <p:cNvPr name="Freeform 3" id="3"/>
            <p:cNvSpPr/>
            <p:nvPr/>
          </p:nvSpPr>
          <p:spPr>
            <a:xfrm flipH="false" flipV="false" rot="0">
              <a:off x="0" y="0"/>
              <a:ext cx="1444978" cy="812800"/>
            </a:xfrm>
            <a:custGeom>
              <a:avLst/>
              <a:gdLst/>
              <a:ahLst/>
              <a:cxnLst/>
              <a:rect r="r" b="b" t="t" l="l"/>
              <a:pathLst>
                <a:path h="812800" w="1444978">
                  <a:moveTo>
                    <a:pt x="0" y="0"/>
                  </a:moveTo>
                  <a:lnTo>
                    <a:pt x="1444978" y="0"/>
                  </a:lnTo>
                  <a:lnTo>
                    <a:pt x="1444978" y="812800"/>
                  </a:lnTo>
                  <a:lnTo>
                    <a:pt x="0" y="812800"/>
                  </a:lnTo>
                  <a:close/>
                </a:path>
              </a:pathLst>
            </a:custGeom>
            <a:blipFill>
              <a:blip r:embed="rId2"/>
              <a:stretch>
                <a:fillRect l="-3317" t="0" r="-3317" b="0"/>
              </a:stretch>
            </a:blipFill>
          </p:spPr>
        </p:sp>
      </p:grpSp>
      <p:grpSp>
        <p:nvGrpSpPr>
          <p:cNvPr name="Group 4" id="4"/>
          <p:cNvGrpSpPr/>
          <p:nvPr/>
        </p:nvGrpSpPr>
        <p:grpSpPr>
          <a:xfrm rot="0">
            <a:off x="0" y="0"/>
            <a:ext cx="18288000" cy="10287000"/>
            <a:chOff x="0" y="0"/>
            <a:chExt cx="4816593" cy="2709333"/>
          </a:xfrm>
        </p:grpSpPr>
        <p:sp>
          <p:nvSpPr>
            <p:cNvPr name="Freeform 5" id="5"/>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gradFill rotWithShape="true">
              <a:gsLst>
                <a:gs pos="0">
                  <a:srgbClr val="11076D">
                    <a:alpha val="64000"/>
                  </a:srgbClr>
                </a:gs>
                <a:gs pos="100000">
                  <a:srgbClr val="144357">
                    <a:alpha val="64000"/>
                  </a:srgbClr>
                </a:gs>
              </a:gsLst>
              <a:path path="circle">
                <a:fillToRect l="0" r="100000" t="0" b="100000"/>
              </a:path>
              <a:tileRect r="0" l="-100000" b="0" t="-100000"/>
            </a:gradFill>
          </p:spPr>
        </p:sp>
        <p:sp>
          <p:nvSpPr>
            <p:cNvPr name="TextBox 6" id="6"/>
            <p:cNvSpPr txBox="true"/>
            <p:nvPr/>
          </p:nvSpPr>
          <p:spPr>
            <a:xfrm>
              <a:off x="0" y="-57150"/>
              <a:ext cx="4816593" cy="276648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692296" y="692296"/>
            <a:ext cx="672808" cy="672808"/>
          </a:xfrm>
          <a:custGeom>
            <a:avLst/>
            <a:gdLst/>
            <a:ahLst/>
            <a:cxnLst/>
            <a:rect r="r" b="b" t="t" l="l"/>
            <a:pathLst>
              <a:path h="672808" w="672808">
                <a:moveTo>
                  <a:pt x="0" y="0"/>
                </a:moveTo>
                <a:lnTo>
                  <a:pt x="672808" y="0"/>
                </a:lnTo>
                <a:lnTo>
                  <a:pt x="672808" y="672808"/>
                </a:lnTo>
                <a:lnTo>
                  <a:pt x="0" y="6728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574611" y="765175"/>
            <a:ext cx="4141972" cy="450849"/>
          </a:xfrm>
          <a:prstGeom prst="rect">
            <a:avLst/>
          </a:prstGeom>
        </p:spPr>
        <p:txBody>
          <a:bodyPr anchor="t" rtlCol="false" tIns="0" lIns="0" bIns="0" rIns="0">
            <a:spAutoFit/>
          </a:bodyPr>
          <a:lstStyle/>
          <a:p>
            <a:pPr algn="l">
              <a:lnSpc>
                <a:spcPts val="3500"/>
              </a:lnSpc>
            </a:pPr>
            <a:r>
              <a:rPr lang="en-US" sz="2500" b="true">
                <a:solidFill>
                  <a:srgbClr val="FFFFFF"/>
                </a:solidFill>
                <a:latin typeface="Poppins Bold"/>
                <a:ea typeface="Poppins Bold"/>
                <a:cs typeface="Poppins Bold"/>
                <a:sym typeface="Poppins Bold"/>
              </a:rPr>
              <a:t>KARAN SINGH</a:t>
            </a:r>
          </a:p>
        </p:txBody>
      </p:sp>
      <p:grpSp>
        <p:nvGrpSpPr>
          <p:cNvPr name="Group 9" id="9"/>
          <p:cNvGrpSpPr/>
          <p:nvPr/>
        </p:nvGrpSpPr>
        <p:grpSpPr>
          <a:xfrm rot="0">
            <a:off x="1327094" y="8441398"/>
            <a:ext cx="15740058" cy="931202"/>
            <a:chOff x="0" y="0"/>
            <a:chExt cx="4145530" cy="245255"/>
          </a:xfrm>
        </p:grpSpPr>
        <p:sp>
          <p:nvSpPr>
            <p:cNvPr name="Freeform 10" id="10"/>
            <p:cNvSpPr/>
            <p:nvPr/>
          </p:nvSpPr>
          <p:spPr>
            <a:xfrm flipH="false" flipV="false" rot="0">
              <a:off x="0" y="0"/>
              <a:ext cx="4145530" cy="245255"/>
            </a:xfrm>
            <a:custGeom>
              <a:avLst/>
              <a:gdLst/>
              <a:ahLst/>
              <a:cxnLst/>
              <a:rect r="r" b="b" t="t" l="l"/>
              <a:pathLst>
                <a:path h="245255" w="4145530">
                  <a:moveTo>
                    <a:pt x="17707" y="0"/>
                  </a:moveTo>
                  <a:lnTo>
                    <a:pt x="4127823" y="0"/>
                  </a:lnTo>
                  <a:cubicBezTo>
                    <a:pt x="4137602" y="0"/>
                    <a:pt x="4145530" y="7928"/>
                    <a:pt x="4145530" y="17707"/>
                  </a:cubicBezTo>
                  <a:lnTo>
                    <a:pt x="4145530" y="227548"/>
                  </a:lnTo>
                  <a:cubicBezTo>
                    <a:pt x="4145530" y="232244"/>
                    <a:pt x="4143665" y="236748"/>
                    <a:pt x="4140344" y="240069"/>
                  </a:cubicBezTo>
                  <a:cubicBezTo>
                    <a:pt x="4137023" y="243389"/>
                    <a:pt x="4132519" y="245255"/>
                    <a:pt x="4127823" y="245255"/>
                  </a:cubicBezTo>
                  <a:lnTo>
                    <a:pt x="17707" y="245255"/>
                  </a:lnTo>
                  <a:cubicBezTo>
                    <a:pt x="13011" y="245255"/>
                    <a:pt x="8507" y="243389"/>
                    <a:pt x="5186" y="240069"/>
                  </a:cubicBezTo>
                  <a:cubicBezTo>
                    <a:pt x="1866" y="236748"/>
                    <a:pt x="0" y="232244"/>
                    <a:pt x="0" y="227548"/>
                  </a:cubicBezTo>
                  <a:lnTo>
                    <a:pt x="0" y="17707"/>
                  </a:lnTo>
                  <a:cubicBezTo>
                    <a:pt x="0" y="13011"/>
                    <a:pt x="1866" y="8507"/>
                    <a:pt x="5186" y="5186"/>
                  </a:cubicBezTo>
                  <a:cubicBezTo>
                    <a:pt x="8507" y="1866"/>
                    <a:pt x="13011" y="0"/>
                    <a:pt x="17707" y="0"/>
                  </a:cubicBezTo>
                  <a:close/>
                </a:path>
              </a:pathLst>
            </a:custGeom>
            <a:solidFill>
              <a:srgbClr val="21DEE8">
                <a:alpha val="12941"/>
              </a:srgbClr>
            </a:solidFill>
          </p:spPr>
        </p:sp>
        <p:sp>
          <p:nvSpPr>
            <p:cNvPr name="TextBox 11" id="11"/>
            <p:cNvSpPr txBox="true"/>
            <p:nvPr/>
          </p:nvSpPr>
          <p:spPr>
            <a:xfrm>
              <a:off x="0" y="-66675"/>
              <a:ext cx="4145530" cy="311930"/>
            </a:xfrm>
            <a:prstGeom prst="rect">
              <a:avLst/>
            </a:prstGeom>
          </p:spPr>
          <p:txBody>
            <a:bodyPr anchor="ctr" rtlCol="false" tIns="50800" lIns="50800" bIns="50800" rIns="50800"/>
            <a:lstStyle/>
            <a:p>
              <a:pPr algn="ctr">
                <a:lnSpc>
                  <a:spcPts val="2800"/>
                </a:lnSpc>
              </a:pPr>
            </a:p>
          </p:txBody>
        </p:sp>
      </p:grpSp>
      <p:grpSp>
        <p:nvGrpSpPr>
          <p:cNvPr name="Group 12" id="12"/>
          <p:cNvGrpSpPr/>
          <p:nvPr/>
        </p:nvGrpSpPr>
        <p:grpSpPr>
          <a:xfrm rot="0">
            <a:off x="1327094" y="8441398"/>
            <a:ext cx="15614000" cy="931202"/>
            <a:chOff x="0" y="0"/>
            <a:chExt cx="4112329" cy="245255"/>
          </a:xfrm>
        </p:grpSpPr>
        <p:sp>
          <p:nvSpPr>
            <p:cNvPr name="Freeform 13" id="13"/>
            <p:cNvSpPr/>
            <p:nvPr/>
          </p:nvSpPr>
          <p:spPr>
            <a:xfrm flipH="false" flipV="false" rot="0">
              <a:off x="0" y="0"/>
              <a:ext cx="4112329" cy="245255"/>
            </a:xfrm>
            <a:custGeom>
              <a:avLst/>
              <a:gdLst/>
              <a:ahLst/>
              <a:cxnLst/>
              <a:rect r="r" b="b" t="t" l="l"/>
              <a:pathLst>
                <a:path h="245255" w="4112329">
                  <a:moveTo>
                    <a:pt x="17850" y="0"/>
                  </a:moveTo>
                  <a:lnTo>
                    <a:pt x="4094479" y="0"/>
                  </a:lnTo>
                  <a:cubicBezTo>
                    <a:pt x="4099213" y="0"/>
                    <a:pt x="4103753" y="1881"/>
                    <a:pt x="4107101" y="5228"/>
                  </a:cubicBezTo>
                  <a:cubicBezTo>
                    <a:pt x="4110449" y="8576"/>
                    <a:pt x="4112329" y="13116"/>
                    <a:pt x="4112329" y="17850"/>
                  </a:cubicBezTo>
                  <a:lnTo>
                    <a:pt x="4112329" y="227405"/>
                  </a:lnTo>
                  <a:cubicBezTo>
                    <a:pt x="4112329" y="232139"/>
                    <a:pt x="4110449" y="236679"/>
                    <a:pt x="4107101" y="240027"/>
                  </a:cubicBezTo>
                  <a:cubicBezTo>
                    <a:pt x="4103753" y="243374"/>
                    <a:pt x="4099213" y="245255"/>
                    <a:pt x="4094479" y="245255"/>
                  </a:cubicBezTo>
                  <a:lnTo>
                    <a:pt x="17850" y="245255"/>
                  </a:lnTo>
                  <a:cubicBezTo>
                    <a:pt x="13116" y="245255"/>
                    <a:pt x="8576" y="243374"/>
                    <a:pt x="5228" y="240027"/>
                  </a:cubicBezTo>
                  <a:cubicBezTo>
                    <a:pt x="1881" y="236679"/>
                    <a:pt x="0" y="232139"/>
                    <a:pt x="0" y="227405"/>
                  </a:cubicBezTo>
                  <a:lnTo>
                    <a:pt x="0" y="17850"/>
                  </a:lnTo>
                  <a:cubicBezTo>
                    <a:pt x="0" y="13116"/>
                    <a:pt x="1881" y="8576"/>
                    <a:pt x="5228" y="5228"/>
                  </a:cubicBezTo>
                  <a:cubicBezTo>
                    <a:pt x="8576" y="1881"/>
                    <a:pt x="13116" y="0"/>
                    <a:pt x="17850" y="0"/>
                  </a:cubicBezTo>
                  <a:close/>
                </a:path>
              </a:pathLst>
            </a:custGeom>
            <a:ln w="47625" cap="rnd">
              <a:gradFill>
                <a:gsLst>
                  <a:gs pos="0">
                    <a:srgbClr val="004AB8">
                      <a:alpha val="100000"/>
                    </a:srgbClr>
                  </a:gs>
                  <a:gs pos="100000">
                    <a:srgbClr val="00FFD1">
                      <a:alpha val="100000"/>
                    </a:srgbClr>
                  </a:gs>
                </a:gsLst>
                <a:path path="circle">
                  <a:fillToRect l="0" r="100000" t="0" b="100000"/>
                </a:path>
                <a:tileRect r="0" l="-100000" b="0" t="-100000"/>
              </a:gradFill>
              <a:prstDash val="solid"/>
              <a:round/>
            </a:ln>
          </p:spPr>
        </p:sp>
        <p:sp>
          <p:nvSpPr>
            <p:cNvPr name="TextBox 14" id="14"/>
            <p:cNvSpPr txBox="true"/>
            <p:nvPr/>
          </p:nvSpPr>
          <p:spPr>
            <a:xfrm>
              <a:off x="0" y="-66675"/>
              <a:ext cx="4112329" cy="311930"/>
            </a:xfrm>
            <a:prstGeom prst="rect">
              <a:avLst/>
            </a:prstGeom>
          </p:spPr>
          <p:txBody>
            <a:bodyPr anchor="ctr" rtlCol="false" tIns="50800" lIns="50800" bIns="50800" rIns="50800"/>
            <a:lstStyle/>
            <a:p>
              <a:pPr algn="ctr">
                <a:lnSpc>
                  <a:spcPts val="2800"/>
                </a:lnSpc>
              </a:pPr>
            </a:p>
          </p:txBody>
        </p:sp>
      </p:grpSp>
      <p:sp>
        <p:nvSpPr>
          <p:cNvPr name="TextBox 15" id="15"/>
          <p:cNvSpPr txBox="true"/>
          <p:nvPr/>
        </p:nvSpPr>
        <p:spPr>
          <a:xfrm rot="0">
            <a:off x="9262221" y="2585615"/>
            <a:ext cx="5492273" cy="2634085"/>
          </a:xfrm>
          <a:prstGeom prst="rect">
            <a:avLst/>
          </a:prstGeom>
        </p:spPr>
        <p:txBody>
          <a:bodyPr anchor="t" rtlCol="false" tIns="0" lIns="0" bIns="0" rIns="0">
            <a:spAutoFit/>
          </a:bodyPr>
          <a:lstStyle/>
          <a:p>
            <a:pPr algn="ctr">
              <a:lnSpc>
                <a:spcPts val="21797"/>
              </a:lnSpc>
            </a:pPr>
            <a:r>
              <a:rPr lang="en-US" sz="15569" b="true">
                <a:solidFill>
                  <a:srgbClr val="00FFD1"/>
                </a:solidFill>
                <a:latin typeface="Canva Sans Bold"/>
                <a:ea typeface="Canva Sans Bold"/>
                <a:cs typeface="Canva Sans Bold"/>
                <a:sym typeface="Canva Sans Bold"/>
              </a:rPr>
              <a:t>You</a:t>
            </a:r>
          </a:p>
        </p:txBody>
      </p:sp>
      <p:sp>
        <p:nvSpPr>
          <p:cNvPr name="TextBox 16" id="16"/>
          <p:cNvSpPr txBox="true"/>
          <p:nvPr/>
        </p:nvSpPr>
        <p:spPr>
          <a:xfrm rot="0">
            <a:off x="3513693" y="2539365"/>
            <a:ext cx="6771448" cy="2680335"/>
          </a:xfrm>
          <a:prstGeom prst="rect">
            <a:avLst/>
          </a:prstGeom>
        </p:spPr>
        <p:txBody>
          <a:bodyPr anchor="t" rtlCol="false" tIns="0" lIns="0" bIns="0" rIns="0">
            <a:spAutoFit/>
          </a:bodyPr>
          <a:lstStyle/>
          <a:p>
            <a:pPr algn="ctr">
              <a:lnSpc>
                <a:spcPts val="21839"/>
              </a:lnSpc>
            </a:pPr>
            <a:r>
              <a:rPr lang="en-US" sz="15600" b="true">
                <a:solidFill>
                  <a:srgbClr val="FFFFFF"/>
                </a:solidFill>
                <a:latin typeface="Canva Sans Bold"/>
                <a:ea typeface="Canva Sans Bold"/>
                <a:cs typeface="Canva Sans Bold"/>
                <a:sym typeface="Canva Sans Bold"/>
              </a:rPr>
              <a:t>Thank</a:t>
            </a:r>
          </a:p>
        </p:txBody>
      </p:sp>
      <p:sp>
        <p:nvSpPr>
          <p:cNvPr name="TextBox 17" id="17"/>
          <p:cNvSpPr txBox="true"/>
          <p:nvPr/>
        </p:nvSpPr>
        <p:spPr>
          <a:xfrm rot="0">
            <a:off x="4384997" y="5133975"/>
            <a:ext cx="9226568" cy="648336"/>
          </a:xfrm>
          <a:prstGeom prst="rect">
            <a:avLst/>
          </a:prstGeom>
        </p:spPr>
        <p:txBody>
          <a:bodyPr anchor="t" rtlCol="false" tIns="0" lIns="0" bIns="0" rIns="0">
            <a:spAutoFit/>
          </a:bodyPr>
          <a:lstStyle/>
          <a:p>
            <a:pPr algn="ctr" marL="0" indent="0" lvl="0">
              <a:lnSpc>
                <a:spcPts val="4809"/>
              </a:lnSpc>
            </a:pPr>
            <a:r>
              <a:rPr lang="en-US" sz="3699" spc="-218">
                <a:solidFill>
                  <a:srgbClr val="FFFFFF"/>
                </a:solidFill>
                <a:latin typeface="Poppins"/>
                <a:ea typeface="Poppins"/>
                <a:cs typeface="Poppins"/>
                <a:sym typeface="Poppins"/>
              </a:rPr>
              <a:t>For your Time and Attention</a:t>
            </a:r>
          </a:p>
        </p:txBody>
      </p:sp>
      <p:sp>
        <p:nvSpPr>
          <p:cNvPr name="TextBox 18" id="18"/>
          <p:cNvSpPr txBox="true"/>
          <p:nvPr/>
        </p:nvSpPr>
        <p:spPr>
          <a:xfrm rot="0">
            <a:off x="1660336" y="8652999"/>
            <a:ext cx="6418898" cy="441325"/>
          </a:xfrm>
          <a:prstGeom prst="rect">
            <a:avLst/>
          </a:prstGeom>
        </p:spPr>
        <p:txBody>
          <a:bodyPr anchor="t" rtlCol="false" tIns="0" lIns="0" bIns="0" rIns="0">
            <a:spAutoFit/>
          </a:bodyPr>
          <a:lstStyle/>
          <a:p>
            <a:pPr algn="l" marL="0" indent="0" lvl="0">
              <a:lnSpc>
                <a:spcPts val="3499"/>
              </a:lnSpc>
              <a:spcBef>
                <a:spcPct val="0"/>
              </a:spcBef>
            </a:pPr>
            <a:r>
              <a:rPr lang="en-US" b="true" sz="2499">
                <a:solidFill>
                  <a:srgbClr val="FFFFFF"/>
                </a:solidFill>
                <a:latin typeface="Poppins Bold"/>
                <a:ea typeface="Poppins Bold"/>
                <a:cs typeface="Poppins Bold"/>
                <a:sym typeface="Poppins Bold"/>
              </a:rPr>
              <a:t>482KARAN@GMAIL.COM</a:t>
            </a:r>
          </a:p>
        </p:txBody>
      </p:sp>
      <p:sp>
        <p:nvSpPr>
          <p:cNvPr name="TextBox 19" id="19"/>
          <p:cNvSpPr txBox="true"/>
          <p:nvPr/>
        </p:nvSpPr>
        <p:spPr>
          <a:xfrm rot="0">
            <a:off x="10285142" y="8652999"/>
            <a:ext cx="6262250" cy="441325"/>
          </a:xfrm>
          <a:prstGeom prst="rect">
            <a:avLst/>
          </a:prstGeom>
        </p:spPr>
        <p:txBody>
          <a:bodyPr anchor="t" rtlCol="false" tIns="0" lIns="0" bIns="0" rIns="0">
            <a:spAutoFit/>
          </a:bodyPr>
          <a:lstStyle/>
          <a:p>
            <a:pPr algn="r" marL="0" indent="0" lvl="0">
              <a:lnSpc>
                <a:spcPts val="3499"/>
              </a:lnSpc>
              <a:spcBef>
                <a:spcPct val="0"/>
              </a:spcBef>
            </a:pPr>
            <a:r>
              <a:rPr lang="en-US" b="true" sz="2499">
                <a:solidFill>
                  <a:srgbClr val="FFFFFF"/>
                </a:solidFill>
                <a:latin typeface="Poppins Bold"/>
                <a:ea typeface="Poppins Bold"/>
                <a:cs typeface="Poppins Bold"/>
                <a:sym typeface="Poppins Bold"/>
              </a:rPr>
              <a:t>WWW.KARAN1901.INFO</a:t>
            </a:r>
          </a:p>
        </p:txBody>
      </p:sp>
      <p:sp>
        <p:nvSpPr>
          <p:cNvPr name="TextBox 20" id="20"/>
          <p:cNvSpPr txBox="true"/>
          <p:nvPr/>
        </p:nvSpPr>
        <p:spPr>
          <a:xfrm rot="0">
            <a:off x="8717015" y="8652999"/>
            <a:ext cx="987018" cy="441325"/>
          </a:xfrm>
          <a:prstGeom prst="rect">
            <a:avLst/>
          </a:prstGeom>
        </p:spPr>
        <p:txBody>
          <a:bodyPr anchor="t" rtlCol="false" tIns="0" lIns="0" bIns="0" rIns="0">
            <a:spAutoFit/>
          </a:bodyPr>
          <a:lstStyle/>
          <a:p>
            <a:pPr algn="ctr" marL="0" indent="0" lvl="0">
              <a:lnSpc>
                <a:spcPts val="3499"/>
              </a:lnSpc>
              <a:spcBef>
                <a:spcPct val="0"/>
              </a:spcBef>
            </a:pPr>
            <a:r>
              <a:rPr lang="en-US" b="true" sz="2499">
                <a:solidFill>
                  <a:srgbClr val="FFFFFF"/>
                </a:solidFill>
                <a:latin typeface="Poppins Bold"/>
                <a:ea typeface="Poppins Bold"/>
                <a:cs typeface="Poppins Bold"/>
                <a:sym typeface="Poppins Bold"/>
              </a:rPr>
              <a:t>-</a:t>
            </a:r>
          </a:p>
        </p:txBody>
      </p:sp>
      <p:grpSp>
        <p:nvGrpSpPr>
          <p:cNvPr name="Group 21" id="21"/>
          <p:cNvGrpSpPr/>
          <p:nvPr/>
        </p:nvGrpSpPr>
        <p:grpSpPr>
          <a:xfrm rot="-10800000">
            <a:off x="-5146894" y="2215935"/>
            <a:ext cx="8212531" cy="47625"/>
            <a:chOff x="0" y="0"/>
            <a:chExt cx="2162971" cy="12543"/>
          </a:xfrm>
        </p:grpSpPr>
        <p:sp>
          <p:nvSpPr>
            <p:cNvPr name="Freeform 22" id="22"/>
            <p:cNvSpPr/>
            <p:nvPr/>
          </p:nvSpPr>
          <p:spPr>
            <a:xfrm flipH="false" flipV="false" rot="0">
              <a:off x="0" y="0"/>
              <a:ext cx="2162971" cy="12543"/>
            </a:xfrm>
            <a:custGeom>
              <a:avLst/>
              <a:gdLst/>
              <a:ahLst/>
              <a:cxnLst/>
              <a:rect r="r" b="b" t="t" l="l"/>
              <a:pathLst>
                <a:path h="12543" w="2162971">
                  <a:moveTo>
                    <a:pt x="0" y="0"/>
                  </a:moveTo>
                  <a:lnTo>
                    <a:pt x="2162971" y="0"/>
                  </a:lnTo>
                  <a:lnTo>
                    <a:pt x="2162971" y="12543"/>
                  </a:lnTo>
                  <a:lnTo>
                    <a:pt x="0" y="12543"/>
                  </a:lnTo>
                  <a:close/>
                </a:path>
              </a:pathLst>
            </a:custGeom>
            <a:solidFill>
              <a:srgbClr val="20E5F6"/>
            </a:solidFill>
          </p:spPr>
        </p:sp>
        <p:sp>
          <p:nvSpPr>
            <p:cNvPr name="TextBox 23" id="23"/>
            <p:cNvSpPr txBox="true"/>
            <p:nvPr/>
          </p:nvSpPr>
          <p:spPr>
            <a:xfrm>
              <a:off x="0" y="-66675"/>
              <a:ext cx="2162971" cy="79218"/>
            </a:xfrm>
            <a:prstGeom prst="rect">
              <a:avLst/>
            </a:prstGeom>
          </p:spPr>
          <p:txBody>
            <a:bodyPr anchor="ctr" rtlCol="false" tIns="50800" lIns="50800" bIns="50800" rIns="50800"/>
            <a:lstStyle/>
            <a:p>
              <a:pPr algn="ctr">
                <a:lnSpc>
                  <a:spcPts val="2800"/>
                </a:lnSpc>
              </a:pPr>
            </a:p>
          </p:txBody>
        </p:sp>
      </p:grpSp>
      <p:grpSp>
        <p:nvGrpSpPr>
          <p:cNvPr name="Group 24" id="24"/>
          <p:cNvGrpSpPr/>
          <p:nvPr/>
        </p:nvGrpSpPr>
        <p:grpSpPr>
          <a:xfrm rot="-10800000">
            <a:off x="2834801" y="2124330"/>
            <a:ext cx="230836" cy="230836"/>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E5F6"/>
            </a:solidFill>
          </p:spPr>
        </p:sp>
        <p:sp>
          <p:nvSpPr>
            <p:cNvPr name="TextBox 26" id="26"/>
            <p:cNvSpPr txBox="true"/>
            <p:nvPr/>
          </p:nvSpPr>
          <p:spPr>
            <a:xfrm>
              <a:off x="76200" y="9525"/>
              <a:ext cx="660400" cy="727075"/>
            </a:xfrm>
            <a:prstGeom prst="rect">
              <a:avLst/>
            </a:prstGeom>
          </p:spPr>
          <p:txBody>
            <a:bodyPr anchor="ctr" rtlCol="false" tIns="50800" lIns="50800" bIns="50800" rIns="50800"/>
            <a:lstStyle/>
            <a:p>
              <a:pPr algn="ctr">
                <a:lnSpc>
                  <a:spcPts val="2800"/>
                </a:lnSpc>
              </a:pPr>
            </a:p>
          </p:txBody>
        </p:sp>
      </p:grpSp>
      <p:grpSp>
        <p:nvGrpSpPr>
          <p:cNvPr name="Group 27" id="27"/>
          <p:cNvGrpSpPr/>
          <p:nvPr/>
        </p:nvGrpSpPr>
        <p:grpSpPr>
          <a:xfrm rot="0">
            <a:off x="13315205" y="7479201"/>
            <a:ext cx="8212531" cy="47625"/>
            <a:chOff x="0" y="0"/>
            <a:chExt cx="2162971" cy="12543"/>
          </a:xfrm>
        </p:grpSpPr>
        <p:sp>
          <p:nvSpPr>
            <p:cNvPr name="Freeform 28" id="28"/>
            <p:cNvSpPr/>
            <p:nvPr/>
          </p:nvSpPr>
          <p:spPr>
            <a:xfrm flipH="false" flipV="false" rot="0">
              <a:off x="0" y="0"/>
              <a:ext cx="2162971" cy="12543"/>
            </a:xfrm>
            <a:custGeom>
              <a:avLst/>
              <a:gdLst/>
              <a:ahLst/>
              <a:cxnLst/>
              <a:rect r="r" b="b" t="t" l="l"/>
              <a:pathLst>
                <a:path h="12543" w="2162971">
                  <a:moveTo>
                    <a:pt x="0" y="0"/>
                  </a:moveTo>
                  <a:lnTo>
                    <a:pt x="2162971" y="0"/>
                  </a:lnTo>
                  <a:lnTo>
                    <a:pt x="2162971" y="12543"/>
                  </a:lnTo>
                  <a:lnTo>
                    <a:pt x="0" y="12543"/>
                  </a:lnTo>
                  <a:close/>
                </a:path>
              </a:pathLst>
            </a:custGeom>
            <a:solidFill>
              <a:srgbClr val="20E5F6"/>
            </a:solidFill>
          </p:spPr>
        </p:sp>
        <p:sp>
          <p:nvSpPr>
            <p:cNvPr name="TextBox 29" id="29"/>
            <p:cNvSpPr txBox="true"/>
            <p:nvPr/>
          </p:nvSpPr>
          <p:spPr>
            <a:xfrm>
              <a:off x="0" y="-66675"/>
              <a:ext cx="2162971" cy="79218"/>
            </a:xfrm>
            <a:prstGeom prst="rect">
              <a:avLst/>
            </a:prstGeom>
          </p:spPr>
          <p:txBody>
            <a:bodyPr anchor="ctr" rtlCol="false" tIns="50800" lIns="50800" bIns="50800" rIns="50800"/>
            <a:lstStyle/>
            <a:p>
              <a:pPr algn="ctr">
                <a:lnSpc>
                  <a:spcPts val="2800"/>
                </a:lnSpc>
              </a:pPr>
            </a:p>
          </p:txBody>
        </p:sp>
      </p:grpSp>
      <p:grpSp>
        <p:nvGrpSpPr>
          <p:cNvPr name="Group 30" id="30"/>
          <p:cNvGrpSpPr/>
          <p:nvPr/>
        </p:nvGrpSpPr>
        <p:grpSpPr>
          <a:xfrm rot="0">
            <a:off x="13315205" y="7387596"/>
            <a:ext cx="230836" cy="230836"/>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E5F6"/>
            </a:solidFill>
          </p:spPr>
        </p:sp>
        <p:sp>
          <p:nvSpPr>
            <p:cNvPr name="TextBox 32" id="32"/>
            <p:cNvSpPr txBox="true"/>
            <p:nvPr/>
          </p:nvSpPr>
          <p:spPr>
            <a:xfrm>
              <a:off x="76200" y="9525"/>
              <a:ext cx="660400" cy="727075"/>
            </a:xfrm>
            <a:prstGeom prst="rect">
              <a:avLst/>
            </a:prstGeom>
          </p:spPr>
          <p:txBody>
            <a:bodyPr anchor="ctr" rtlCol="false" tIns="50800" lIns="50800" bIns="50800" rIns="50800"/>
            <a:lstStyle/>
            <a:p>
              <a:pPr algn="ctr">
                <a:lnSpc>
                  <a:spcPts val="2800"/>
                </a:lnSpc>
              </a:pPr>
            </a:p>
          </p:txBody>
        </p:sp>
      </p:grpSp>
      <p:sp>
        <p:nvSpPr>
          <p:cNvPr name="Freeform 33" id="33"/>
          <p:cNvSpPr/>
          <p:nvPr/>
        </p:nvSpPr>
        <p:spPr>
          <a:xfrm flipH="false" flipV="false" rot="0">
            <a:off x="1176366" y="5899706"/>
            <a:ext cx="1658436" cy="1603308"/>
          </a:xfrm>
          <a:custGeom>
            <a:avLst/>
            <a:gdLst/>
            <a:ahLst/>
            <a:cxnLst/>
            <a:rect r="r" b="b" t="t" l="l"/>
            <a:pathLst>
              <a:path h="1603308" w="1658436">
                <a:moveTo>
                  <a:pt x="0" y="0"/>
                </a:moveTo>
                <a:lnTo>
                  <a:pt x="1658435" y="0"/>
                </a:lnTo>
                <a:lnTo>
                  <a:pt x="1658435" y="1603308"/>
                </a:lnTo>
                <a:lnTo>
                  <a:pt x="0" y="1603308"/>
                </a:lnTo>
                <a:lnTo>
                  <a:pt x="0" y="0"/>
                </a:lnTo>
                <a:close/>
              </a:path>
            </a:pathLst>
          </a:custGeom>
          <a:blipFill>
            <a:blip r:embed="rId5">
              <a:alphaModFix amt="54000"/>
              <a:extLst>
                <a:ext uri="{96DAC541-7B7A-43D3-8B79-37D633B846F1}">
                  <asvg:svgBlip xmlns:asvg="http://schemas.microsoft.com/office/drawing/2016/SVG/main" r:embed="rId6"/>
                </a:ext>
              </a:extLst>
            </a:blip>
            <a:stretch>
              <a:fillRect l="0" t="0" r="0" b="0"/>
            </a:stretch>
          </a:blipFill>
        </p:spPr>
      </p:sp>
      <p:sp>
        <p:nvSpPr>
          <p:cNvPr name="Freeform 34" id="34"/>
          <p:cNvSpPr/>
          <p:nvPr/>
        </p:nvSpPr>
        <p:spPr>
          <a:xfrm flipH="false" flipV="false" rot="0">
            <a:off x="15341284" y="2263560"/>
            <a:ext cx="1725868" cy="1668498"/>
          </a:xfrm>
          <a:custGeom>
            <a:avLst/>
            <a:gdLst/>
            <a:ahLst/>
            <a:cxnLst/>
            <a:rect r="r" b="b" t="t" l="l"/>
            <a:pathLst>
              <a:path h="1668498" w="1725868">
                <a:moveTo>
                  <a:pt x="0" y="0"/>
                </a:moveTo>
                <a:lnTo>
                  <a:pt x="1725868" y="0"/>
                </a:lnTo>
                <a:lnTo>
                  <a:pt x="1725868" y="1668498"/>
                </a:lnTo>
                <a:lnTo>
                  <a:pt x="0" y="1668498"/>
                </a:lnTo>
                <a:lnTo>
                  <a:pt x="0" y="0"/>
                </a:lnTo>
                <a:close/>
              </a:path>
            </a:pathLst>
          </a:custGeom>
          <a:blipFill>
            <a:blip r:embed="rId5">
              <a:alphaModFix amt="54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DAHD0egY40g</dc:identifier>
  <dcterms:modified xsi:type="dcterms:W3CDTF">2011-08-01T06:04:30Z</dcterms:modified>
  <cp:revision>1</cp:revision>
</cp:coreProperties>
</file>